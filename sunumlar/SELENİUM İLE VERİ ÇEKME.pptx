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0" r:id="rId9"/>
    <p:sldId id="261" r:id="rId10"/>
    <p:sldId id="262" r:id="rId11"/>
    <p:sldId id="263" r:id="rId12"/>
    <p:sldId id="264" r:id="rId13"/>
    <p:sldId id="270" r:id="rId14"/>
    <p:sldId id="265" r:id="rId15"/>
    <p:sldId id="266" r:id="rId16"/>
    <p:sldId id="267" r:id="rId17"/>
    <p:sldId id="268" r:id="rId18"/>
    <p:sldId id="269" r:id="rId19"/>
    <p:sldId id="271" r:id="rId20"/>
    <p:sldId id="272" r:id="rId21"/>
    <p:sldId id="273" r:id="rId22"/>
    <p:sldId id="274" r:id="rId23"/>
    <p:sldId id="275" r:id="rId24"/>
    <p:sldId id="276" r:id="rId25"/>
    <p:sldId id="277" r:id="rId26"/>
    <p:sldId id="278" r:id="rId27"/>
    <p:sldId id="279" r:id="rId28"/>
    <p:sldId id="280" r:id="rId29"/>
    <p:sldId id="281" r:id="rId30"/>
    <p:sldId id="284" r:id="rId31"/>
    <p:sldId id="283" r:id="rId32"/>
    <p:sldId id="282" r:id="rId33"/>
    <p:sldId id="285" r:id="rId34"/>
    <p:sldId id="286" r:id="rId35"/>
    <p:sldId id="288" r:id="rId36"/>
    <p:sldId id="289" r:id="rId37"/>
    <p:sldId id="287" r:id="rId38"/>
    <p:sldId id="290" r:id="rId39"/>
    <p:sldId id="291" r:id="rId40"/>
    <p:sldId id="292" r:id="rId41"/>
    <p:sldId id="293" r:id="rId42"/>
    <p:sldId id="294" r:id="rId43"/>
    <p:sldId id="295" r:id="rId44"/>
    <p:sldId id="296" r:id="rId45"/>
    <p:sldId id="297"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EA9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AF95F9-F7D9-444A-A5CB-4281157FB55A}" v="155" dt="2024-12-01T22:46:09.0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895" autoAdjust="0"/>
  </p:normalViewPr>
  <p:slideViewPr>
    <p:cSldViewPr snapToGrid="0">
      <p:cViewPr varScale="1">
        <p:scale>
          <a:sx n="47" d="100"/>
          <a:sy n="47" d="100"/>
        </p:scale>
        <p:origin x="104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8DA806-739C-4810-90C8-B92C4D90F2E1}" type="doc">
      <dgm:prSet loTypeId="urn:microsoft.com/office/officeart/2005/8/layout/target3" loCatId="relationship" qsTypeId="urn:microsoft.com/office/officeart/2005/8/quickstyle/simple1" qsCatId="simple" csTypeId="urn:microsoft.com/office/officeart/2005/8/colors/accent1_5" csCatId="accent1" phldr="1"/>
      <dgm:spPr/>
      <dgm:t>
        <a:bodyPr/>
        <a:lstStyle/>
        <a:p>
          <a:endParaRPr lang="tr-TR"/>
        </a:p>
      </dgm:t>
    </dgm:pt>
    <dgm:pt modelId="{C5E81ABE-4EB9-48F7-8267-D70CB5678F43}">
      <dgm:prSet phldrT="[Metin]"/>
      <dgm:spPr/>
      <dgm:t>
        <a:bodyPr/>
        <a:lstStyle/>
        <a:p>
          <a:r>
            <a:rPr lang="tr-TR" u="sng" dirty="0"/>
            <a:t>OpenLibrary ile kitap verileri</a:t>
          </a:r>
        </a:p>
      </dgm:t>
    </dgm:pt>
    <dgm:pt modelId="{84ED9FD0-CDDC-4926-A454-E78FA93D4248}" type="parTrans" cxnId="{5762619E-4395-4D7E-A647-0010239B434E}">
      <dgm:prSet/>
      <dgm:spPr/>
      <dgm:t>
        <a:bodyPr/>
        <a:lstStyle/>
        <a:p>
          <a:endParaRPr lang="tr-TR"/>
        </a:p>
      </dgm:t>
    </dgm:pt>
    <dgm:pt modelId="{AD4BA8F7-E93C-4206-B609-CE347305E231}" type="sibTrans" cxnId="{5762619E-4395-4D7E-A647-0010239B434E}">
      <dgm:prSet/>
      <dgm:spPr/>
      <dgm:t>
        <a:bodyPr/>
        <a:lstStyle/>
        <a:p>
          <a:endParaRPr lang="tr-TR"/>
        </a:p>
      </dgm:t>
    </dgm:pt>
    <dgm:pt modelId="{A6591B17-1F60-4E2F-8CD0-158AD43DED02}">
      <dgm:prSet phldrT="[Metin]"/>
      <dgm:spPr/>
      <dgm:t>
        <a:bodyPr/>
        <a:lstStyle/>
        <a:p>
          <a:r>
            <a:rPr lang="tr-TR" u="sng" dirty="0"/>
            <a:t>Selenium kurulumu</a:t>
          </a:r>
        </a:p>
      </dgm:t>
    </dgm:pt>
    <dgm:pt modelId="{997CE85A-6014-47F3-B0F4-0E38ECF3AC24}" type="parTrans" cxnId="{266D2412-765F-4DEC-85B0-9B9D20750FA6}">
      <dgm:prSet/>
      <dgm:spPr/>
      <dgm:t>
        <a:bodyPr/>
        <a:lstStyle/>
        <a:p>
          <a:endParaRPr lang="tr-TR"/>
        </a:p>
      </dgm:t>
    </dgm:pt>
    <dgm:pt modelId="{074C565B-68B2-4806-BC6F-AB6A1B3B451C}" type="sibTrans" cxnId="{266D2412-765F-4DEC-85B0-9B9D20750FA6}">
      <dgm:prSet/>
      <dgm:spPr/>
      <dgm:t>
        <a:bodyPr/>
        <a:lstStyle/>
        <a:p>
          <a:endParaRPr lang="tr-TR"/>
        </a:p>
      </dgm:t>
    </dgm:pt>
    <dgm:pt modelId="{E31BA5AE-5FB9-407A-B40A-76925BD11EC4}">
      <dgm:prSet phldrT="[Metin]"/>
      <dgm:spPr/>
      <dgm:t>
        <a:bodyPr/>
        <a:lstStyle/>
        <a:p>
          <a:r>
            <a:rPr lang="tr-TR" u="sng" dirty="0"/>
            <a:t>Selenium ile istenilen verilerin çekilmesi</a:t>
          </a:r>
        </a:p>
      </dgm:t>
    </dgm:pt>
    <dgm:pt modelId="{32814161-6224-47F7-A18C-1CCA011918C9}" type="parTrans" cxnId="{56539A15-E9A1-4B96-911B-15583B2375B6}">
      <dgm:prSet/>
      <dgm:spPr/>
      <dgm:t>
        <a:bodyPr/>
        <a:lstStyle/>
        <a:p>
          <a:endParaRPr lang="tr-TR"/>
        </a:p>
      </dgm:t>
    </dgm:pt>
    <dgm:pt modelId="{5B5D27DD-F6A8-4769-8A46-E1B06A0A45B2}" type="sibTrans" cxnId="{56539A15-E9A1-4B96-911B-15583B2375B6}">
      <dgm:prSet/>
      <dgm:spPr/>
      <dgm:t>
        <a:bodyPr/>
        <a:lstStyle/>
        <a:p>
          <a:endParaRPr lang="tr-TR"/>
        </a:p>
      </dgm:t>
    </dgm:pt>
    <dgm:pt modelId="{F4BF6479-23CC-4A69-A2FB-5801B5E4D11E}">
      <dgm:prSet phldrT="[Metin]"/>
      <dgm:spPr/>
      <dgm:t>
        <a:bodyPr/>
        <a:lstStyle/>
        <a:p>
          <a:r>
            <a:rPr lang="tr-TR" u="sng" dirty="0"/>
            <a:t>Çekilen verilere göre grafik oluşturma</a:t>
          </a:r>
        </a:p>
      </dgm:t>
    </dgm:pt>
    <dgm:pt modelId="{FAF35AB9-8A5D-4976-A09E-7C3A0D8D0AEE}" type="parTrans" cxnId="{18D971B1-0A89-4641-A5B5-4AB072FDE2A3}">
      <dgm:prSet/>
      <dgm:spPr/>
      <dgm:t>
        <a:bodyPr/>
        <a:lstStyle/>
        <a:p>
          <a:endParaRPr lang="tr-TR"/>
        </a:p>
      </dgm:t>
    </dgm:pt>
    <dgm:pt modelId="{0E856A3A-CA2D-45C0-87AE-2CD78EAB6AB8}" type="sibTrans" cxnId="{18D971B1-0A89-4641-A5B5-4AB072FDE2A3}">
      <dgm:prSet/>
      <dgm:spPr/>
      <dgm:t>
        <a:bodyPr/>
        <a:lstStyle/>
        <a:p>
          <a:endParaRPr lang="tr-TR"/>
        </a:p>
      </dgm:t>
    </dgm:pt>
    <dgm:pt modelId="{97698B50-C3F2-44C2-9ACF-FA6BDFB4809A}">
      <dgm:prSet phldrT="[Metin]"/>
      <dgm:spPr/>
      <dgm:t>
        <a:bodyPr/>
        <a:lstStyle/>
        <a:p>
          <a:r>
            <a:rPr lang="tr-TR" u="sng" dirty="0"/>
            <a:t>Sunum</a:t>
          </a:r>
        </a:p>
      </dgm:t>
    </dgm:pt>
    <dgm:pt modelId="{1573626A-E2BB-4569-96A1-A16B42E37918}" type="parTrans" cxnId="{10C82938-471F-4692-AAA3-B2BDFDB8A286}">
      <dgm:prSet/>
      <dgm:spPr/>
      <dgm:t>
        <a:bodyPr/>
        <a:lstStyle/>
        <a:p>
          <a:endParaRPr lang="tr-TR"/>
        </a:p>
      </dgm:t>
    </dgm:pt>
    <dgm:pt modelId="{994F4DDD-20CC-4245-A9EF-7AE8EC93BF50}" type="sibTrans" cxnId="{10C82938-471F-4692-AAA3-B2BDFDB8A286}">
      <dgm:prSet/>
      <dgm:spPr/>
      <dgm:t>
        <a:bodyPr/>
        <a:lstStyle/>
        <a:p>
          <a:endParaRPr lang="tr-TR"/>
        </a:p>
      </dgm:t>
    </dgm:pt>
    <dgm:pt modelId="{D306285A-96C5-4ACC-B88D-D59F1EA01F52}">
      <dgm:prSet phldrT="[Metin]"/>
      <dgm:spPr/>
      <dgm:t>
        <a:bodyPr/>
        <a:lstStyle/>
        <a:p>
          <a:r>
            <a:rPr lang="tr-TR" u="sng" dirty="0"/>
            <a:t>Kaynakça</a:t>
          </a:r>
        </a:p>
      </dgm:t>
    </dgm:pt>
    <dgm:pt modelId="{1AE3B67A-BBF1-4358-9664-791CA3C4A93F}" type="parTrans" cxnId="{BE74EB72-19C3-4B18-8AE3-E380B7C6A598}">
      <dgm:prSet/>
      <dgm:spPr/>
      <dgm:t>
        <a:bodyPr/>
        <a:lstStyle/>
        <a:p>
          <a:endParaRPr lang="tr-TR"/>
        </a:p>
      </dgm:t>
    </dgm:pt>
    <dgm:pt modelId="{554AD56A-2257-4D69-A8FE-653EB86FE323}" type="sibTrans" cxnId="{BE74EB72-19C3-4B18-8AE3-E380B7C6A598}">
      <dgm:prSet/>
      <dgm:spPr/>
      <dgm:t>
        <a:bodyPr/>
        <a:lstStyle/>
        <a:p>
          <a:endParaRPr lang="tr-TR"/>
        </a:p>
      </dgm:t>
    </dgm:pt>
    <dgm:pt modelId="{A85259E9-39AA-4519-BDC9-ED8AC6C9C409}" type="pres">
      <dgm:prSet presAssocID="{588DA806-739C-4810-90C8-B92C4D90F2E1}" presName="Name0" presStyleCnt="0">
        <dgm:presLayoutVars>
          <dgm:chMax val="7"/>
          <dgm:dir/>
          <dgm:animLvl val="lvl"/>
          <dgm:resizeHandles val="exact"/>
        </dgm:presLayoutVars>
      </dgm:prSet>
      <dgm:spPr/>
    </dgm:pt>
    <dgm:pt modelId="{10755CC9-E1A9-493A-B8B6-743D94D4FB01}" type="pres">
      <dgm:prSet presAssocID="{C5E81ABE-4EB9-48F7-8267-D70CB5678F43}" presName="circle1" presStyleLbl="node1" presStyleIdx="0" presStyleCnt="6"/>
      <dgm:spPr/>
    </dgm:pt>
    <dgm:pt modelId="{73647D0F-1586-4690-93B6-B98639CD6F49}" type="pres">
      <dgm:prSet presAssocID="{C5E81ABE-4EB9-48F7-8267-D70CB5678F43}" presName="space" presStyleCnt="0"/>
      <dgm:spPr/>
    </dgm:pt>
    <dgm:pt modelId="{665ADED7-95DD-44A7-84C5-4CBA8AD2E970}" type="pres">
      <dgm:prSet presAssocID="{C5E81ABE-4EB9-48F7-8267-D70CB5678F43}" presName="rect1" presStyleLbl="alignAcc1" presStyleIdx="0" presStyleCnt="6" custLinFactNeighborX="-281"/>
      <dgm:spPr/>
    </dgm:pt>
    <dgm:pt modelId="{B1EFE526-F110-42BF-88FA-B9F24FC876F1}" type="pres">
      <dgm:prSet presAssocID="{A6591B17-1F60-4E2F-8CD0-158AD43DED02}" presName="vertSpace2" presStyleLbl="node1" presStyleIdx="0" presStyleCnt="6"/>
      <dgm:spPr/>
    </dgm:pt>
    <dgm:pt modelId="{8FBC8223-A26A-4545-9595-03D612EE6B72}" type="pres">
      <dgm:prSet presAssocID="{A6591B17-1F60-4E2F-8CD0-158AD43DED02}" presName="circle2" presStyleLbl="node1" presStyleIdx="1" presStyleCnt="6"/>
      <dgm:spPr/>
    </dgm:pt>
    <dgm:pt modelId="{196D7630-623A-4227-A9A9-5A212836BE57}" type="pres">
      <dgm:prSet presAssocID="{A6591B17-1F60-4E2F-8CD0-158AD43DED02}" presName="rect2" presStyleLbl="alignAcc1" presStyleIdx="1" presStyleCnt="6" custLinFactNeighborX="1359"/>
      <dgm:spPr/>
    </dgm:pt>
    <dgm:pt modelId="{41807B1F-CC39-4888-BB90-88F00AC1FCFF}" type="pres">
      <dgm:prSet presAssocID="{E31BA5AE-5FB9-407A-B40A-76925BD11EC4}" presName="vertSpace3" presStyleLbl="node1" presStyleIdx="1" presStyleCnt="6"/>
      <dgm:spPr/>
    </dgm:pt>
    <dgm:pt modelId="{D2987C3B-DA4C-4A47-AC54-DF2A43E40B76}" type="pres">
      <dgm:prSet presAssocID="{E31BA5AE-5FB9-407A-B40A-76925BD11EC4}" presName="circle3" presStyleLbl="node1" presStyleIdx="2" presStyleCnt="6"/>
      <dgm:spPr/>
    </dgm:pt>
    <dgm:pt modelId="{1FF2B031-B8BC-47FF-978E-99CC3B0113C0}" type="pres">
      <dgm:prSet presAssocID="{E31BA5AE-5FB9-407A-B40A-76925BD11EC4}" presName="rect3" presStyleLbl="alignAcc1" presStyleIdx="2" presStyleCnt="6"/>
      <dgm:spPr/>
    </dgm:pt>
    <dgm:pt modelId="{4A48186E-C21A-462D-8A9B-A2128CDBF43C}" type="pres">
      <dgm:prSet presAssocID="{F4BF6479-23CC-4A69-A2FB-5801B5E4D11E}" presName="vertSpace4" presStyleLbl="node1" presStyleIdx="2" presStyleCnt="6"/>
      <dgm:spPr/>
    </dgm:pt>
    <dgm:pt modelId="{92A8F5CB-38FA-40E0-9948-0DDF2DD96531}" type="pres">
      <dgm:prSet presAssocID="{F4BF6479-23CC-4A69-A2FB-5801B5E4D11E}" presName="circle4" presStyleLbl="node1" presStyleIdx="3" presStyleCnt="6"/>
      <dgm:spPr/>
    </dgm:pt>
    <dgm:pt modelId="{91D19652-8926-4143-9A66-453C52D9DC06}" type="pres">
      <dgm:prSet presAssocID="{F4BF6479-23CC-4A69-A2FB-5801B5E4D11E}" presName="rect4" presStyleLbl="alignAcc1" presStyleIdx="3" presStyleCnt="6"/>
      <dgm:spPr/>
    </dgm:pt>
    <dgm:pt modelId="{DE8BB292-8073-4DA1-AEB5-77084E1C53B9}" type="pres">
      <dgm:prSet presAssocID="{97698B50-C3F2-44C2-9ACF-FA6BDFB4809A}" presName="vertSpace5" presStyleLbl="node1" presStyleIdx="3" presStyleCnt="6"/>
      <dgm:spPr/>
    </dgm:pt>
    <dgm:pt modelId="{67D94023-2A0A-43F8-85BC-3A8331D1645B}" type="pres">
      <dgm:prSet presAssocID="{97698B50-C3F2-44C2-9ACF-FA6BDFB4809A}" presName="circle5" presStyleLbl="node1" presStyleIdx="4" presStyleCnt="6"/>
      <dgm:spPr/>
    </dgm:pt>
    <dgm:pt modelId="{567380E1-5177-453F-B0DA-FD7120EDF3DB}" type="pres">
      <dgm:prSet presAssocID="{97698B50-C3F2-44C2-9ACF-FA6BDFB4809A}" presName="rect5" presStyleLbl="alignAcc1" presStyleIdx="4" presStyleCnt="6"/>
      <dgm:spPr/>
    </dgm:pt>
    <dgm:pt modelId="{501E0B1D-BFE1-4F77-B0D8-8E2D295AA6E3}" type="pres">
      <dgm:prSet presAssocID="{D306285A-96C5-4ACC-B88D-D59F1EA01F52}" presName="vertSpace6" presStyleLbl="node1" presStyleIdx="4" presStyleCnt="6"/>
      <dgm:spPr/>
    </dgm:pt>
    <dgm:pt modelId="{85450770-A507-42C9-88F7-CBD208D46FEA}" type="pres">
      <dgm:prSet presAssocID="{D306285A-96C5-4ACC-B88D-D59F1EA01F52}" presName="circle6" presStyleLbl="node1" presStyleIdx="5" presStyleCnt="6"/>
      <dgm:spPr/>
    </dgm:pt>
    <dgm:pt modelId="{F4233522-2EAB-4955-B566-3FDE40E66AD0}" type="pres">
      <dgm:prSet presAssocID="{D306285A-96C5-4ACC-B88D-D59F1EA01F52}" presName="rect6" presStyleLbl="alignAcc1" presStyleIdx="5" presStyleCnt="6"/>
      <dgm:spPr/>
    </dgm:pt>
    <dgm:pt modelId="{7C02E000-D95B-4AE6-8BE8-3E3F100A3E4D}" type="pres">
      <dgm:prSet presAssocID="{C5E81ABE-4EB9-48F7-8267-D70CB5678F43}" presName="rect1ParTxNoCh" presStyleLbl="alignAcc1" presStyleIdx="5" presStyleCnt="6">
        <dgm:presLayoutVars>
          <dgm:chMax val="1"/>
          <dgm:bulletEnabled val="1"/>
        </dgm:presLayoutVars>
      </dgm:prSet>
      <dgm:spPr/>
    </dgm:pt>
    <dgm:pt modelId="{7410E6E7-DD4E-4F4A-936D-0505A0E742C8}" type="pres">
      <dgm:prSet presAssocID="{A6591B17-1F60-4E2F-8CD0-158AD43DED02}" presName="rect2ParTxNoCh" presStyleLbl="alignAcc1" presStyleIdx="5" presStyleCnt="6">
        <dgm:presLayoutVars>
          <dgm:chMax val="1"/>
          <dgm:bulletEnabled val="1"/>
        </dgm:presLayoutVars>
      </dgm:prSet>
      <dgm:spPr/>
    </dgm:pt>
    <dgm:pt modelId="{5D178D77-7214-4F3D-BC03-410596895413}" type="pres">
      <dgm:prSet presAssocID="{E31BA5AE-5FB9-407A-B40A-76925BD11EC4}" presName="rect3ParTxNoCh" presStyleLbl="alignAcc1" presStyleIdx="5" presStyleCnt="6">
        <dgm:presLayoutVars>
          <dgm:chMax val="1"/>
          <dgm:bulletEnabled val="1"/>
        </dgm:presLayoutVars>
      </dgm:prSet>
      <dgm:spPr/>
    </dgm:pt>
    <dgm:pt modelId="{652CA733-51A1-47D2-BE7F-7B2C253F2B19}" type="pres">
      <dgm:prSet presAssocID="{F4BF6479-23CC-4A69-A2FB-5801B5E4D11E}" presName="rect4ParTxNoCh" presStyleLbl="alignAcc1" presStyleIdx="5" presStyleCnt="6">
        <dgm:presLayoutVars>
          <dgm:chMax val="1"/>
          <dgm:bulletEnabled val="1"/>
        </dgm:presLayoutVars>
      </dgm:prSet>
      <dgm:spPr/>
    </dgm:pt>
    <dgm:pt modelId="{85016FDE-E04D-4EFA-A4BE-9BBB72E09909}" type="pres">
      <dgm:prSet presAssocID="{97698B50-C3F2-44C2-9ACF-FA6BDFB4809A}" presName="rect5ParTxNoCh" presStyleLbl="alignAcc1" presStyleIdx="5" presStyleCnt="6">
        <dgm:presLayoutVars>
          <dgm:chMax val="1"/>
          <dgm:bulletEnabled val="1"/>
        </dgm:presLayoutVars>
      </dgm:prSet>
      <dgm:spPr/>
    </dgm:pt>
    <dgm:pt modelId="{82A9065D-72F5-4435-AE22-52C79837A1BF}" type="pres">
      <dgm:prSet presAssocID="{D306285A-96C5-4ACC-B88D-D59F1EA01F52}" presName="rect6ParTxNoCh" presStyleLbl="alignAcc1" presStyleIdx="5" presStyleCnt="6">
        <dgm:presLayoutVars>
          <dgm:chMax val="1"/>
          <dgm:bulletEnabled val="1"/>
        </dgm:presLayoutVars>
      </dgm:prSet>
      <dgm:spPr/>
    </dgm:pt>
  </dgm:ptLst>
  <dgm:cxnLst>
    <dgm:cxn modelId="{266D2412-765F-4DEC-85B0-9B9D20750FA6}" srcId="{588DA806-739C-4810-90C8-B92C4D90F2E1}" destId="{A6591B17-1F60-4E2F-8CD0-158AD43DED02}" srcOrd="1" destOrd="0" parTransId="{997CE85A-6014-47F3-B0F4-0E38ECF3AC24}" sibTransId="{074C565B-68B2-4806-BC6F-AB6A1B3B451C}"/>
    <dgm:cxn modelId="{56539A15-E9A1-4B96-911B-15583B2375B6}" srcId="{588DA806-739C-4810-90C8-B92C4D90F2E1}" destId="{E31BA5AE-5FB9-407A-B40A-76925BD11EC4}" srcOrd="2" destOrd="0" parTransId="{32814161-6224-47F7-A18C-1CCA011918C9}" sibTransId="{5B5D27DD-F6A8-4769-8A46-E1B06A0A45B2}"/>
    <dgm:cxn modelId="{99EBEF1C-233A-423E-8F22-7E5107C438E6}" type="presOf" srcId="{D306285A-96C5-4ACC-B88D-D59F1EA01F52}" destId="{82A9065D-72F5-4435-AE22-52C79837A1BF}" srcOrd="1" destOrd="0" presId="urn:microsoft.com/office/officeart/2005/8/layout/target3"/>
    <dgm:cxn modelId="{93408530-D105-476F-A79B-93C2B47F959B}" type="presOf" srcId="{C5E81ABE-4EB9-48F7-8267-D70CB5678F43}" destId="{7C02E000-D95B-4AE6-8BE8-3E3F100A3E4D}" srcOrd="1" destOrd="0" presId="urn:microsoft.com/office/officeart/2005/8/layout/target3"/>
    <dgm:cxn modelId="{10C82938-471F-4692-AAA3-B2BDFDB8A286}" srcId="{588DA806-739C-4810-90C8-B92C4D90F2E1}" destId="{97698B50-C3F2-44C2-9ACF-FA6BDFB4809A}" srcOrd="4" destOrd="0" parTransId="{1573626A-E2BB-4569-96A1-A16B42E37918}" sibTransId="{994F4DDD-20CC-4245-A9EF-7AE8EC93BF50}"/>
    <dgm:cxn modelId="{46CF2547-C960-4C99-8411-175DFC56D489}" type="presOf" srcId="{D306285A-96C5-4ACC-B88D-D59F1EA01F52}" destId="{F4233522-2EAB-4955-B566-3FDE40E66AD0}" srcOrd="0" destOrd="0" presId="urn:microsoft.com/office/officeart/2005/8/layout/target3"/>
    <dgm:cxn modelId="{A3D53E4C-F3C4-4997-B2B6-26D89762605E}" type="presOf" srcId="{A6591B17-1F60-4E2F-8CD0-158AD43DED02}" destId="{196D7630-623A-4227-A9A9-5A212836BE57}" srcOrd="0" destOrd="0" presId="urn:microsoft.com/office/officeart/2005/8/layout/target3"/>
    <dgm:cxn modelId="{BE74EB72-19C3-4B18-8AE3-E380B7C6A598}" srcId="{588DA806-739C-4810-90C8-B92C4D90F2E1}" destId="{D306285A-96C5-4ACC-B88D-D59F1EA01F52}" srcOrd="5" destOrd="0" parTransId="{1AE3B67A-BBF1-4358-9664-791CA3C4A93F}" sibTransId="{554AD56A-2257-4D69-A8FE-653EB86FE323}"/>
    <dgm:cxn modelId="{DAA8958C-0C3C-41E1-AFC9-A68B1091EE81}" type="presOf" srcId="{E31BA5AE-5FB9-407A-B40A-76925BD11EC4}" destId="{1FF2B031-B8BC-47FF-978E-99CC3B0113C0}" srcOrd="0" destOrd="0" presId="urn:microsoft.com/office/officeart/2005/8/layout/target3"/>
    <dgm:cxn modelId="{64EDA592-0E63-4DE6-859A-F4A7D1243738}" type="presOf" srcId="{97698B50-C3F2-44C2-9ACF-FA6BDFB4809A}" destId="{567380E1-5177-453F-B0DA-FD7120EDF3DB}" srcOrd="0" destOrd="0" presId="urn:microsoft.com/office/officeart/2005/8/layout/target3"/>
    <dgm:cxn modelId="{5762619E-4395-4D7E-A647-0010239B434E}" srcId="{588DA806-739C-4810-90C8-B92C4D90F2E1}" destId="{C5E81ABE-4EB9-48F7-8267-D70CB5678F43}" srcOrd="0" destOrd="0" parTransId="{84ED9FD0-CDDC-4926-A454-E78FA93D4248}" sibTransId="{AD4BA8F7-E93C-4206-B609-CE347305E231}"/>
    <dgm:cxn modelId="{04EEBFA5-C0BF-4E4B-BF8E-751AD8D41DD9}" type="presOf" srcId="{C5E81ABE-4EB9-48F7-8267-D70CB5678F43}" destId="{665ADED7-95DD-44A7-84C5-4CBA8AD2E970}" srcOrd="0" destOrd="0" presId="urn:microsoft.com/office/officeart/2005/8/layout/target3"/>
    <dgm:cxn modelId="{18D971B1-0A89-4641-A5B5-4AB072FDE2A3}" srcId="{588DA806-739C-4810-90C8-B92C4D90F2E1}" destId="{F4BF6479-23CC-4A69-A2FB-5801B5E4D11E}" srcOrd="3" destOrd="0" parTransId="{FAF35AB9-8A5D-4976-A09E-7C3A0D8D0AEE}" sibTransId="{0E856A3A-CA2D-45C0-87AE-2CD78EAB6AB8}"/>
    <dgm:cxn modelId="{E0B326C8-95A6-43AE-A5C5-812BF6DEDD1A}" type="presOf" srcId="{588DA806-739C-4810-90C8-B92C4D90F2E1}" destId="{A85259E9-39AA-4519-BDC9-ED8AC6C9C409}" srcOrd="0" destOrd="0" presId="urn:microsoft.com/office/officeart/2005/8/layout/target3"/>
    <dgm:cxn modelId="{8B2250E0-AFE9-4491-88B1-6E068DFB8BD4}" type="presOf" srcId="{97698B50-C3F2-44C2-9ACF-FA6BDFB4809A}" destId="{85016FDE-E04D-4EFA-A4BE-9BBB72E09909}" srcOrd="1" destOrd="0" presId="urn:microsoft.com/office/officeart/2005/8/layout/target3"/>
    <dgm:cxn modelId="{BEB238E3-1279-4724-98EF-BC7D5B8FD13B}" type="presOf" srcId="{E31BA5AE-5FB9-407A-B40A-76925BD11EC4}" destId="{5D178D77-7214-4F3D-BC03-410596895413}" srcOrd="1" destOrd="0" presId="urn:microsoft.com/office/officeart/2005/8/layout/target3"/>
    <dgm:cxn modelId="{FB793EE6-FE95-433E-9BAE-1002174864B9}" type="presOf" srcId="{F4BF6479-23CC-4A69-A2FB-5801B5E4D11E}" destId="{652CA733-51A1-47D2-BE7F-7B2C253F2B19}" srcOrd="1" destOrd="0" presId="urn:microsoft.com/office/officeart/2005/8/layout/target3"/>
    <dgm:cxn modelId="{E7C708EF-521A-401E-947B-D32CA6DBD746}" type="presOf" srcId="{A6591B17-1F60-4E2F-8CD0-158AD43DED02}" destId="{7410E6E7-DD4E-4F4A-936D-0505A0E742C8}" srcOrd="1" destOrd="0" presId="urn:microsoft.com/office/officeart/2005/8/layout/target3"/>
    <dgm:cxn modelId="{6BD3E1FB-E4DD-43D9-8B1B-AD5A02FAEEF5}" type="presOf" srcId="{F4BF6479-23CC-4A69-A2FB-5801B5E4D11E}" destId="{91D19652-8926-4143-9A66-453C52D9DC06}" srcOrd="0" destOrd="0" presId="urn:microsoft.com/office/officeart/2005/8/layout/target3"/>
    <dgm:cxn modelId="{3379B481-6170-4713-A14D-BBA6DB2F392C}" type="presParOf" srcId="{A85259E9-39AA-4519-BDC9-ED8AC6C9C409}" destId="{10755CC9-E1A9-493A-B8B6-743D94D4FB01}" srcOrd="0" destOrd="0" presId="urn:microsoft.com/office/officeart/2005/8/layout/target3"/>
    <dgm:cxn modelId="{780BCC31-D3C6-4678-BD8B-3B3E52A7ACC9}" type="presParOf" srcId="{A85259E9-39AA-4519-BDC9-ED8AC6C9C409}" destId="{73647D0F-1586-4690-93B6-B98639CD6F49}" srcOrd="1" destOrd="0" presId="urn:microsoft.com/office/officeart/2005/8/layout/target3"/>
    <dgm:cxn modelId="{F305E33F-87D0-4AED-A1EF-E47F82AD1E4F}" type="presParOf" srcId="{A85259E9-39AA-4519-BDC9-ED8AC6C9C409}" destId="{665ADED7-95DD-44A7-84C5-4CBA8AD2E970}" srcOrd="2" destOrd="0" presId="urn:microsoft.com/office/officeart/2005/8/layout/target3"/>
    <dgm:cxn modelId="{20FBFE37-534B-4886-9604-524181BA3F0C}" type="presParOf" srcId="{A85259E9-39AA-4519-BDC9-ED8AC6C9C409}" destId="{B1EFE526-F110-42BF-88FA-B9F24FC876F1}" srcOrd="3" destOrd="0" presId="urn:microsoft.com/office/officeart/2005/8/layout/target3"/>
    <dgm:cxn modelId="{EB294CA0-5EC9-4D92-95AF-E013B7A74880}" type="presParOf" srcId="{A85259E9-39AA-4519-BDC9-ED8AC6C9C409}" destId="{8FBC8223-A26A-4545-9595-03D612EE6B72}" srcOrd="4" destOrd="0" presId="urn:microsoft.com/office/officeart/2005/8/layout/target3"/>
    <dgm:cxn modelId="{13AFB440-58C5-40C4-A7C6-EC74100286A6}" type="presParOf" srcId="{A85259E9-39AA-4519-BDC9-ED8AC6C9C409}" destId="{196D7630-623A-4227-A9A9-5A212836BE57}" srcOrd="5" destOrd="0" presId="urn:microsoft.com/office/officeart/2005/8/layout/target3"/>
    <dgm:cxn modelId="{8EF3B2E8-2BAA-404A-823D-EBE51A75508F}" type="presParOf" srcId="{A85259E9-39AA-4519-BDC9-ED8AC6C9C409}" destId="{41807B1F-CC39-4888-BB90-88F00AC1FCFF}" srcOrd="6" destOrd="0" presId="urn:microsoft.com/office/officeart/2005/8/layout/target3"/>
    <dgm:cxn modelId="{B68CBA14-0DF1-494C-AF80-B9D092A28777}" type="presParOf" srcId="{A85259E9-39AA-4519-BDC9-ED8AC6C9C409}" destId="{D2987C3B-DA4C-4A47-AC54-DF2A43E40B76}" srcOrd="7" destOrd="0" presId="urn:microsoft.com/office/officeart/2005/8/layout/target3"/>
    <dgm:cxn modelId="{74B16259-261F-46F3-BBFC-3059AB168A38}" type="presParOf" srcId="{A85259E9-39AA-4519-BDC9-ED8AC6C9C409}" destId="{1FF2B031-B8BC-47FF-978E-99CC3B0113C0}" srcOrd="8" destOrd="0" presId="urn:microsoft.com/office/officeart/2005/8/layout/target3"/>
    <dgm:cxn modelId="{D6F5B089-07ED-4315-B554-64B3F992893F}" type="presParOf" srcId="{A85259E9-39AA-4519-BDC9-ED8AC6C9C409}" destId="{4A48186E-C21A-462D-8A9B-A2128CDBF43C}" srcOrd="9" destOrd="0" presId="urn:microsoft.com/office/officeart/2005/8/layout/target3"/>
    <dgm:cxn modelId="{7DA70ADB-B730-4BB2-B063-9040C609F7B6}" type="presParOf" srcId="{A85259E9-39AA-4519-BDC9-ED8AC6C9C409}" destId="{92A8F5CB-38FA-40E0-9948-0DDF2DD96531}" srcOrd="10" destOrd="0" presId="urn:microsoft.com/office/officeart/2005/8/layout/target3"/>
    <dgm:cxn modelId="{7350B98A-4DD7-438E-B428-BC74C69C76AE}" type="presParOf" srcId="{A85259E9-39AA-4519-BDC9-ED8AC6C9C409}" destId="{91D19652-8926-4143-9A66-453C52D9DC06}" srcOrd="11" destOrd="0" presId="urn:microsoft.com/office/officeart/2005/8/layout/target3"/>
    <dgm:cxn modelId="{95EB88D3-CD90-41B3-923F-7CE15CA71D76}" type="presParOf" srcId="{A85259E9-39AA-4519-BDC9-ED8AC6C9C409}" destId="{DE8BB292-8073-4DA1-AEB5-77084E1C53B9}" srcOrd="12" destOrd="0" presId="urn:microsoft.com/office/officeart/2005/8/layout/target3"/>
    <dgm:cxn modelId="{558BB472-437F-4CEF-8C75-F6A73D697827}" type="presParOf" srcId="{A85259E9-39AA-4519-BDC9-ED8AC6C9C409}" destId="{67D94023-2A0A-43F8-85BC-3A8331D1645B}" srcOrd="13" destOrd="0" presId="urn:microsoft.com/office/officeart/2005/8/layout/target3"/>
    <dgm:cxn modelId="{44526386-D211-4860-9744-3EB86DC08F07}" type="presParOf" srcId="{A85259E9-39AA-4519-BDC9-ED8AC6C9C409}" destId="{567380E1-5177-453F-B0DA-FD7120EDF3DB}" srcOrd="14" destOrd="0" presId="urn:microsoft.com/office/officeart/2005/8/layout/target3"/>
    <dgm:cxn modelId="{3A4DED2E-573C-4275-9485-4DA0C8E56322}" type="presParOf" srcId="{A85259E9-39AA-4519-BDC9-ED8AC6C9C409}" destId="{501E0B1D-BFE1-4F77-B0D8-8E2D295AA6E3}" srcOrd="15" destOrd="0" presId="urn:microsoft.com/office/officeart/2005/8/layout/target3"/>
    <dgm:cxn modelId="{1DE0F54E-FB9E-4A8C-AF44-6F12AD032278}" type="presParOf" srcId="{A85259E9-39AA-4519-BDC9-ED8AC6C9C409}" destId="{85450770-A507-42C9-88F7-CBD208D46FEA}" srcOrd="16" destOrd="0" presId="urn:microsoft.com/office/officeart/2005/8/layout/target3"/>
    <dgm:cxn modelId="{1D7EE97A-6E75-4ED4-8F50-D67BD979CE65}" type="presParOf" srcId="{A85259E9-39AA-4519-BDC9-ED8AC6C9C409}" destId="{F4233522-2EAB-4955-B566-3FDE40E66AD0}" srcOrd="17" destOrd="0" presId="urn:microsoft.com/office/officeart/2005/8/layout/target3"/>
    <dgm:cxn modelId="{2BA38EEA-82E7-461B-8D09-25785A6DE073}" type="presParOf" srcId="{A85259E9-39AA-4519-BDC9-ED8AC6C9C409}" destId="{7C02E000-D95B-4AE6-8BE8-3E3F100A3E4D}" srcOrd="18" destOrd="0" presId="urn:microsoft.com/office/officeart/2005/8/layout/target3"/>
    <dgm:cxn modelId="{C71642BE-87E7-449C-BA5C-4A605B8F3BD6}" type="presParOf" srcId="{A85259E9-39AA-4519-BDC9-ED8AC6C9C409}" destId="{7410E6E7-DD4E-4F4A-936D-0505A0E742C8}" srcOrd="19" destOrd="0" presId="urn:microsoft.com/office/officeart/2005/8/layout/target3"/>
    <dgm:cxn modelId="{91049813-FB7F-49D4-9308-2C02A38936B8}" type="presParOf" srcId="{A85259E9-39AA-4519-BDC9-ED8AC6C9C409}" destId="{5D178D77-7214-4F3D-BC03-410596895413}" srcOrd="20" destOrd="0" presId="urn:microsoft.com/office/officeart/2005/8/layout/target3"/>
    <dgm:cxn modelId="{E4C30120-895B-408A-9575-6D77CB9DD089}" type="presParOf" srcId="{A85259E9-39AA-4519-BDC9-ED8AC6C9C409}" destId="{652CA733-51A1-47D2-BE7F-7B2C253F2B19}" srcOrd="21" destOrd="0" presId="urn:microsoft.com/office/officeart/2005/8/layout/target3"/>
    <dgm:cxn modelId="{BD76E0EB-ED58-48C5-96F4-E5611EFAF03C}" type="presParOf" srcId="{A85259E9-39AA-4519-BDC9-ED8AC6C9C409}" destId="{85016FDE-E04D-4EFA-A4BE-9BBB72E09909}" srcOrd="22" destOrd="0" presId="urn:microsoft.com/office/officeart/2005/8/layout/target3"/>
    <dgm:cxn modelId="{84FD6F8A-A19B-4BDB-8146-952974D6FD51}" type="presParOf" srcId="{A85259E9-39AA-4519-BDC9-ED8AC6C9C409}" destId="{82A9065D-72F5-4435-AE22-52C79837A1BF}" srcOrd="2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D6BDC9-B7B0-4F02-834B-C587E1A5AE19}"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tr-TR"/>
        </a:p>
      </dgm:t>
    </dgm:pt>
    <dgm:pt modelId="{B627A2E6-46A9-487A-932B-AF1AEACDC8D3}">
      <dgm:prSet phldrT="[Metin]" custT="1"/>
      <dgm:spPr/>
      <dgm:t>
        <a:bodyPr/>
        <a:lstStyle/>
        <a:p>
          <a:r>
            <a:rPr lang="tr-TR" sz="3200" u="sng" dirty="0"/>
            <a:t>Tanımlayıcı İstatistikler</a:t>
          </a:r>
        </a:p>
      </dgm:t>
    </dgm:pt>
    <dgm:pt modelId="{BFDA8D5E-1FAC-4B52-B472-1E707639F09A}" type="parTrans" cxnId="{6C3F7B89-C36B-4F92-8973-00592180FF9F}">
      <dgm:prSet/>
      <dgm:spPr/>
      <dgm:t>
        <a:bodyPr/>
        <a:lstStyle/>
        <a:p>
          <a:endParaRPr lang="tr-TR"/>
        </a:p>
      </dgm:t>
    </dgm:pt>
    <dgm:pt modelId="{1CF2D45D-CF78-437D-8F85-54BDCAC4249A}" type="sibTrans" cxnId="{6C3F7B89-C36B-4F92-8973-00592180FF9F}">
      <dgm:prSet/>
      <dgm:spPr/>
      <dgm:t>
        <a:bodyPr/>
        <a:lstStyle/>
        <a:p>
          <a:endParaRPr lang="tr-TR"/>
        </a:p>
      </dgm:t>
    </dgm:pt>
    <dgm:pt modelId="{3DD27890-43BC-4315-AE9F-0783C0C19F18}">
      <dgm:prSet phldrT="[Metin]" custT="1"/>
      <dgm:spPr/>
      <dgm:t>
        <a:bodyPr/>
        <a:lstStyle/>
        <a:p>
          <a:r>
            <a:rPr lang="tr-TR" sz="3200" u="sng" dirty="0"/>
            <a:t>Görselleştirme</a:t>
          </a:r>
        </a:p>
      </dgm:t>
    </dgm:pt>
    <dgm:pt modelId="{A5F0C1C4-26DE-4602-B4C8-A3A800C8BFAA}" type="parTrans" cxnId="{7C69CD4E-431C-4F55-87BE-4305EDDCF4D4}">
      <dgm:prSet/>
      <dgm:spPr/>
      <dgm:t>
        <a:bodyPr/>
        <a:lstStyle/>
        <a:p>
          <a:endParaRPr lang="tr-TR"/>
        </a:p>
      </dgm:t>
    </dgm:pt>
    <dgm:pt modelId="{1A6009AA-9154-4A94-AAFD-AFF97F0DE92E}" type="sibTrans" cxnId="{7C69CD4E-431C-4F55-87BE-4305EDDCF4D4}">
      <dgm:prSet/>
      <dgm:spPr/>
      <dgm:t>
        <a:bodyPr/>
        <a:lstStyle/>
        <a:p>
          <a:endParaRPr lang="tr-TR"/>
        </a:p>
      </dgm:t>
    </dgm:pt>
    <dgm:pt modelId="{F148A70F-78CC-4E02-9A52-246410B793D6}">
      <dgm:prSet phldrT="[Metin]" custT="1"/>
      <dgm:spPr/>
      <dgm:t>
        <a:bodyPr/>
        <a:lstStyle/>
        <a:p>
          <a:r>
            <a:rPr lang="tr-TR" sz="3200" u="sng" dirty="0"/>
            <a:t>Korelasyon Analizi</a:t>
          </a:r>
        </a:p>
      </dgm:t>
    </dgm:pt>
    <dgm:pt modelId="{6D9ED551-8792-4EDF-A8D2-4E30EF86864B}" type="parTrans" cxnId="{87D234D8-D13F-42E2-AFA1-1F4B50DAC513}">
      <dgm:prSet/>
      <dgm:spPr/>
      <dgm:t>
        <a:bodyPr/>
        <a:lstStyle/>
        <a:p>
          <a:endParaRPr lang="tr-TR"/>
        </a:p>
      </dgm:t>
    </dgm:pt>
    <dgm:pt modelId="{54355F8A-D170-4E59-862D-A855764F022C}" type="sibTrans" cxnId="{87D234D8-D13F-42E2-AFA1-1F4B50DAC513}">
      <dgm:prSet/>
      <dgm:spPr/>
      <dgm:t>
        <a:bodyPr/>
        <a:lstStyle/>
        <a:p>
          <a:endParaRPr lang="tr-TR"/>
        </a:p>
      </dgm:t>
    </dgm:pt>
    <dgm:pt modelId="{CB9E8D6D-AD36-4526-A7FD-E37D7546426A}">
      <dgm:prSet phldrT="[Metin]" custT="1"/>
      <dgm:spPr/>
      <dgm:t>
        <a:bodyPr/>
        <a:lstStyle/>
        <a:p>
          <a:r>
            <a:rPr lang="tr-TR" sz="3200" u="sng" dirty="0"/>
            <a:t>Hipotez Testleri</a:t>
          </a:r>
        </a:p>
      </dgm:t>
    </dgm:pt>
    <dgm:pt modelId="{7A734464-6147-4C10-97D1-B1F1523A937E}" type="parTrans" cxnId="{3F34624B-234B-420F-ABF9-7E4B8DD5AB98}">
      <dgm:prSet/>
      <dgm:spPr/>
      <dgm:t>
        <a:bodyPr/>
        <a:lstStyle/>
        <a:p>
          <a:endParaRPr lang="tr-TR"/>
        </a:p>
      </dgm:t>
    </dgm:pt>
    <dgm:pt modelId="{AB68C993-82D3-4A9D-A416-30F39D7EE27E}" type="sibTrans" cxnId="{3F34624B-234B-420F-ABF9-7E4B8DD5AB98}">
      <dgm:prSet/>
      <dgm:spPr/>
      <dgm:t>
        <a:bodyPr/>
        <a:lstStyle/>
        <a:p>
          <a:endParaRPr lang="tr-TR"/>
        </a:p>
      </dgm:t>
    </dgm:pt>
    <dgm:pt modelId="{5C543D7D-CFBD-470B-8374-1D8D0E7F8CC1}" type="pres">
      <dgm:prSet presAssocID="{5FD6BDC9-B7B0-4F02-834B-C587E1A5AE19}" presName="Name0" presStyleCnt="0">
        <dgm:presLayoutVars>
          <dgm:chMax val="7"/>
          <dgm:dir/>
          <dgm:animLvl val="lvl"/>
          <dgm:resizeHandles val="exact"/>
        </dgm:presLayoutVars>
      </dgm:prSet>
      <dgm:spPr/>
    </dgm:pt>
    <dgm:pt modelId="{57B15380-38AE-46E0-A6D7-D5EDC10958CA}" type="pres">
      <dgm:prSet presAssocID="{B627A2E6-46A9-487A-932B-AF1AEACDC8D3}" presName="circle1" presStyleLbl="node1" presStyleIdx="0" presStyleCnt="4"/>
      <dgm:spPr>
        <a:solidFill>
          <a:schemeClr val="accent4"/>
        </a:solidFill>
      </dgm:spPr>
    </dgm:pt>
    <dgm:pt modelId="{7BF958F8-C728-4339-AA55-1ED34FBFD13E}" type="pres">
      <dgm:prSet presAssocID="{B627A2E6-46A9-487A-932B-AF1AEACDC8D3}" presName="space" presStyleCnt="0"/>
      <dgm:spPr/>
    </dgm:pt>
    <dgm:pt modelId="{3809DD95-B27D-4664-B39C-AEC1ADC3817E}" type="pres">
      <dgm:prSet presAssocID="{B627A2E6-46A9-487A-932B-AF1AEACDC8D3}" presName="rect1" presStyleLbl="alignAcc1" presStyleIdx="0" presStyleCnt="4"/>
      <dgm:spPr/>
    </dgm:pt>
    <dgm:pt modelId="{59F128DC-8E5B-4A8F-92DF-E361F8DF4EB9}" type="pres">
      <dgm:prSet presAssocID="{3DD27890-43BC-4315-AE9F-0783C0C19F18}" presName="vertSpace2" presStyleLbl="node1" presStyleIdx="0" presStyleCnt="4"/>
      <dgm:spPr/>
    </dgm:pt>
    <dgm:pt modelId="{98B34221-80DB-4C79-B397-558A41A349F1}" type="pres">
      <dgm:prSet presAssocID="{3DD27890-43BC-4315-AE9F-0783C0C19F18}" presName="circle2" presStyleLbl="node1" presStyleIdx="1" presStyleCnt="4"/>
      <dgm:spPr>
        <a:solidFill>
          <a:schemeClr val="accent4"/>
        </a:solidFill>
      </dgm:spPr>
    </dgm:pt>
    <dgm:pt modelId="{2CDC4342-EE65-4E0A-959D-0B651705A543}" type="pres">
      <dgm:prSet presAssocID="{3DD27890-43BC-4315-AE9F-0783C0C19F18}" presName="rect2" presStyleLbl="alignAcc1" presStyleIdx="1" presStyleCnt="4"/>
      <dgm:spPr/>
    </dgm:pt>
    <dgm:pt modelId="{E027BC8F-8324-49E1-B1AA-A80508F79DFE}" type="pres">
      <dgm:prSet presAssocID="{CB9E8D6D-AD36-4526-A7FD-E37D7546426A}" presName="vertSpace3" presStyleLbl="node1" presStyleIdx="1" presStyleCnt="4"/>
      <dgm:spPr/>
    </dgm:pt>
    <dgm:pt modelId="{31FDAEAA-A78C-458F-B32D-9EC517F98CC4}" type="pres">
      <dgm:prSet presAssocID="{CB9E8D6D-AD36-4526-A7FD-E37D7546426A}" presName="circle3" presStyleLbl="node1" presStyleIdx="2" presStyleCnt="4"/>
      <dgm:spPr>
        <a:solidFill>
          <a:schemeClr val="accent4"/>
        </a:solidFill>
      </dgm:spPr>
    </dgm:pt>
    <dgm:pt modelId="{3E64EE8E-2EAB-42F4-88E0-FA476D6951BC}" type="pres">
      <dgm:prSet presAssocID="{CB9E8D6D-AD36-4526-A7FD-E37D7546426A}" presName="rect3" presStyleLbl="alignAcc1" presStyleIdx="2" presStyleCnt="4"/>
      <dgm:spPr/>
    </dgm:pt>
    <dgm:pt modelId="{19E7B2C9-AD3F-4025-ACE4-FF723D58564F}" type="pres">
      <dgm:prSet presAssocID="{F148A70F-78CC-4E02-9A52-246410B793D6}" presName="vertSpace4" presStyleLbl="node1" presStyleIdx="2" presStyleCnt="4"/>
      <dgm:spPr/>
    </dgm:pt>
    <dgm:pt modelId="{31DE786A-03F6-4792-9A7E-5B5F7C8285EB}" type="pres">
      <dgm:prSet presAssocID="{F148A70F-78CC-4E02-9A52-246410B793D6}" presName="circle4" presStyleLbl="node1" presStyleIdx="3" presStyleCnt="4"/>
      <dgm:spPr>
        <a:solidFill>
          <a:schemeClr val="accent4"/>
        </a:solidFill>
      </dgm:spPr>
    </dgm:pt>
    <dgm:pt modelId="{BB7B5EF1-EB3A-442F-BFB6-E263A109740D}" type="pres">
      <dgm:prSet presAssocID="{F148A70F-78CC-4E02-9A52-246410B793D6}" presName="rect4" presStyleLbl="alignAcc1" presStyleIdx="3" presStyleCnt="4"/>
      <dgm:spPr/>
    </dgm:pt>
    <dgm:pt modelId="{6758F4E9-E85A-4C88-B8D7-7CFD1322BB2A}" type="pres">
      <dgm:prSet presAssocID="{B627A2E6-46A9-487A-932B-AF1AEACDC8D3}" presName="rect1ParTxNoCh" presStyleLbl="alignAcc1" presStyleIdx="3" presStyleCnt="4">
        <dgm:presLayoutVars>
          <dgm:chMax val="1"/>
          <dgm:bulletEnabled val="1"/>
        </dgm:presLayoutVars>
      </dgm:prSet>
      <dgm:spPr/>
    </dgm:pt>
    <dgm:pt modelId="{2FE347B5-5C81-4B35-B068-3BEFA250CFE4}" type="pres">
      <dgm:prSet presAssocID="{3DD27890-43BC-4315-AE9F-0783C0C19F18}" presName="rect2ParTxNoCh" presStyleLbl="alignAcc1" presStyleIdx="3" presStyleCnt="4">
        <dgm:presLayoutVars>
          <dgm:chMax val="1"/>
          <dgm:bulletEnabled val="1"/>
        </dgm:presLayoutVars>
      </dgm:prSet>
      <dgm:spPr/>
    </dgm:pt>
    <dgm:pt modelId="{4DD9C7B3-2D04-45C6-AE22-F874AE4C7929}" type="pres">
      <dgm:prSet presAssocID="{CB9E8D6D-AD36-4526-A7FD-E37D7546426A}" presName="rect3ParTxNoCh" presStyleLbl="alignAcc1" presStyleIdx="3" presStyleCnt="4">
        <dgm:presLayoutVars>
          <dgm:chMax val="1"/>
          <dgm:bulletEnabled val="1"/>
        </dgm:presLayoutVars>
      </dgm:prSet>
      <dgm:spPr/>
    </dgm:pt>
    <dgm:pt modelId="{9AB61E9C-B23E-433D-820D-3420DD968595}" type="pres">
      <dgm:prSet presAssocID="{F148A70F-78CC-4E02-9A52-246410B793D6}" presName="rect4ParTxNoCh" presStyleLbl="alignAcc1" presStyleIdx="3" presStyleCnt="4">
        <dgm:presLayoutVars>
          <dgm:chMax val="1"/>
          <dgm:bulletEnabled val="1"/>
        </dgm:presLayoutVars>
      </dgm:prSet>
      <dgm:spPr/>
    </dgm:pt>
  </dgm:ptLst>
  <dgm:cxnLst>
    <dgm:cxn modelId="{FAC01516-4471-4BA6-9E23-E6597331853D}" type="presOf" srcId="{F148A70F-78CC-4E02-9A52-246410B793D6}" destId="{9AB61E9C-B23E-433D-820D-3420DD968595}" srcOrd="1" destOrd="0" presId="urn:microsoft.com/office/officeart/2005/8/layout/target3"/>
    <dgm:cxn modelId="{CCF0342F-D388-422E-895A-533810EB5988}" type="presOf" srcId="{5FD6BDC9-B7B0-4F02-834B-C587E1A5AE19}" destId="{5C543D7D-CFBD-470B-8374-1D8D0E7F8CC1}" srcOrd="0" destOrd="0" presId="urn:microsoft.com/office/officeart/2005/8/layout/target3"/>
    <dgm:cxn modelId="{0FC0AF35-9CE9-4DCD-AAF8-51AE94F2F678}" type="presOf" srcId="{CB9E8D6D-AD36-4526-A7FD-E37D7546426A}" destId="{3E64EE8E-2EAB-42F4-88E0-FA476D6951BC}" srcOrd="0" destOrd="0" presId="urn:microsoft.com/office/officeart/2005/8/layout/target3"/>
    <dgm:cxn modelId="{68A46F5E-3232-4E18-9567-3B8E11AC182D}" type="presOf" srcId="{B627A2E6-46A9-487A-932B-AF1AEACDC8D3}" destId="{6758F4E9-E85A-4C88-B8D7-7CFD1322BB2A}" srcOrd="1" destOrd="0" presId="urn:microsoft.com/office/officeart/2005/8/layout/target3"/>
    <dgm:cxn modelId="{3F34624B-234B-420F-ABF9-7E4B8DD5AB98}" srcId="{5FD6BDC9-B7B0-4F02-834B-C587E1A5AE19}" destId="{CB9E8D6D-AD36-4526-A7FD-E37D7546426A}" srcOrd="2" destOrd="0" parTransId="{7A734464-6147-4C10-97D1-B1F1523A937E}" sibTransId="{AB68C993-82D3-4A9D-A416-30F39D7EE27E}"/>
    <dgm:cxn modelId="{7C69CD4E-431C-4F55-87BE-4305EDDCF4D4}" srcId="{5FD6BDC9-B7B0-4F02-834B-C587E1A5AE19}" destId="{3DD27890-43BC-4315-AE9F-0783C0C19F18}" srcOrd="1" destOrd="0" parTransId="{A5F0C1C4-26DE-4602-B4C8-A3A800C8BFAA}" sibTransId="{1A6009AA-9154-4A94-AAFD-AFF97F0DE92E}"/>
    <dgm:cxn modelId="{C19E3086-B9F9-4083-B30B-1EB184F6A2FF}" type="presOf" srcId="{3DD27890-43BC-4315-AE9F-0783C0C19F18}" destId="{2FE347B5-5C81-4B35-B068-3BEFA250CFE4}" srcOrd="1" destOrd="0" presId="urn:microsoft.com/office/officeart/2005/8/layout/target3"/>
    <dgm:cxn modelId="{6C3F7B89-C36B-4F92-8973-00592180FF9F}" srcId="{5FD6BDC9-B7B0-4F02-834B-C587E1A5AE19}" destId="{B627A2E6-46A9-487A-932B-AF1AEACDC8D3}" srcOrd="0" destOrd="0" parTransId="{BFDA8D5E-1FAC-4B52-B472-1E707639F09A}" sibTransId="{1CF2D45D-CF78-437D-8F85-54BDCAC4249A}"/>
    <dgm:cxn modelId="{D339E8AF-BE27-46DA-BE1A-267DFEF9C99B}" type="presOf" srcId="{F148A70F-78CC-4E02-9A52-246410B793D6}" destId="{BB7B5EF1-EB3A-442F-BFB6-E263A109740D}" srcOrd="0" destOrd="0" presId="urn:microsoft.com/office/officeart/2005/8/layout/target3"/>
    <dgm:cxn modelId="{042497B7-38E4-472D-9CE3-041F49333198}" type="presOf" srcId="{B627A2E6-46A9-487A-932B-AF1AEACDC8D3}" destId="{3809DD95-B27D-4664-B39C-AEC1ADC3817E}" srcOrd="0" destOrd="0" presId="urn:microsoft.com/office/officeart/2005/8/layout/target3"/>
    <dgm:cxn modelId="{C8E673BE-8C22-4F83-8E64-588BA93C6C1F}" type="presOf" srcId="{3DD27890-43BC-4315-AE9F-0783C0C19F18}" destId="{2CDC4342-EE65-4E0A-959D-0B651705A543}" srcOrd="0" destOrd="0" presId="urn:microsoft.com/office/officeart/2005/8/layout/target3"/>
    <dgm:cxn modelId="{1342DBC4-7732-4AAC-99D3-862BC536EE6B}" type="presOf" srcId="{CB9E8D6D-AD36-4526-A7FD-E37D7546426A}" destId="{4DD9C7B3-2D04-45C6-AE22-F874AE4C7929}" srcOrd="1" destOrd="0" presId="urn:microsoft.com/office/officeart/2005/8/layout/target3"/>
    <dgm:cxn modelId="{87D234D8-D13F-42E2-AFA1-1F4B50DAC513}" srcId="{5FD6BDC9-B7B0-4F02-834B-C587E1A5AE19}" destId="{F148A70F-78CC-4E02-9A52-246410B793D6}" srcOrd="3" destOrd="0" parTransId="{6D9ED551-8792-4EDF-A8D2-4E30EF86864B}" sibTransId="{54355F8A-D170-4E59-862D-A855764F022C}"/>
    <dgm:cxn modelId="{8D825522-CB2B-4915-89B0-15853E123A6A}" type="presParOf" srcId="{5C543D7D-CFBD-470B-8374-1D8D0E7F8CC1}" destId="{57B15380-38AE-46E0-A6D7-D5EDC10958CA}" srcOrd="0" destOrd="0" presId="urn:microsoft.com/office/officeart/2005/8/layout/target3"/>
    <dgm:cxn modelId="{A640B251-57C1-4EF3-B306-93EAFD8990B5}" type="presParOf" srcId="{5C543D7D-CFBD-470B-8374-1D8D0E7F8CC1}" destId="{7BF958F8-C728-4339-AA55-1ED34FBFD13E}" srcOrd="1" destOrd="0" presId="urn:microsoft.com/office/officeart/2005/8/layout/target3"/>
    <dgm:cxn modelId="{FC892F62-0137-4648-B474-CD70AF2BC1DA}" type="presParOf" srcId="{5C543D7D-CFBD-470B-8374-1D8D0E7F8CC1}" destId="{3809DD95-B27D-4664-B39C-AEC1ADC3817E}" srcOrd="2" destOrd="0" presId="urn:microsoft.com/office/officeart/2005/8/layout/target3"/>
    <dgm:cxn modelId="{61986E4A-5CF0-4153-8412-D16790B1C097}" type="presParOf" srcId="{5C543D7D-CFBD-470B-8374-1D8D0E7F8CC1}" destId="{59F128DC-8E5B-4A8F-92DF-E361F8DF4EB9}" srcOrd="3" destOrd="0" presId="urn:microsoft.com/office/officeart/2005/8/layout/target3"/>
    <dgm:cxn modelId="{429B3A5A-D521-44E1-96AC-8C8442E9FBFA}" type="presParOf" srcId="{5C543D7D-CFBD-470B-8374-1D8D0E7F8CC1}" destId="{98B34221-80DB-4C79-B397-558A41A349F1}" srcOrd="4" destOrd="0" presId="urn:microsoft.com/office/officeart/2005/8/layout/target3"/>
    <dgm:cxn modelId="{2E02CC80-4270-49FF-B9E7-256740DF146B}" type="presParOf" srcId="{5C543D7D-CFBD-470B-8374-1D8D0E7F8CC1}" destId="{2CDC4342-EE65-4E0A-959D-0B651705A543}" srcOrd="5" destOrd="0" presId="urn:microsoft.com/office/officeart/2005/8/layout/target3"/>
    <dgm:cxn modelId="{C1219DA5-4D5D-4F79-A8C2-CA58CDF06112}" type="presParOf" srcId="{5C543D7D-CFBD-470B-8374-1D8D0E7F8CC1}" destId="{E027BC8F-8324-49E1-B1AA-A80508F79DFE}" srcOrd="6" destOrd="0" presId="urn:microsoft.com/office/officeart/2005/8/layout/target3"/>
    <dgm:cxn modelId="{4943179C-938F-45A7-A0CC-DDCD52753740}" type="presParOf" srcId="{5C543D7D-CFBD-470B-8374-1D8D0E7F8CC1}" destId="{31FDAEAA-A78C-458F-B32D-9EC517F98CC4}" srcOrd="7" destOrd="0" presId="urn:microsoft.com/office/officeart/2005/8/layout/target3"/>
    <dgm:cxn modelId="{BAC37E9F-1B58-4980-A9EC-DA326FC95FB9}" type="presParOf" srcId="{5C543D7D-CFBD-470B-8374-1D8D0E7F8CC1}" destId="{3E64EE8E-2EAB-42F4-88E0-FA476D6951BC}" srcOrd="8" destOrd="0" presId="urn:microsoft.com/office/officeart/2005/8/layout/target3"/>
    <dgm:cxn modelId="{6C790E9D-7155-4839-BF97-96180DCC3940}" type="presParOf" srcId="{5C543D7D-CFBD-470B-8374-1D8D0E7F8CC1}" destId="{19E7B2C9-AD3F-4025-ACE4-FF723D58564F}" srcOrd="9" destOrd="0" presId="urn:microsoft.com/office/officeart/2005/8/layout/target3"/>
    <dgm:cxn modelId="{51FF3E29-0B2F-43FD-9C31-44346E755C35}" type="presParOf" srcId="{5C543D7D-CFBD-470B-8374-1D8D0E7F8CC1}" destId="{31DE786A-03F6-4792-9A7E-5B5F7C8285EB}" srcOrd="10" destOrd="0" presId="urn:microsoft.com/office/officeart/2005/8/layout/target3"/>
    <dgm:cxn modelId="{B4B4E284-8C26-4DC6-9FD8-C394DE4D5000}" type="presParOf" srcId="{5C543D7D-CFBD-470B-8374-1D8D0E7F8CC1}" destId="{BB7B5EF1-EB3A-442F-BFB6-E263A109740D}" srcOrd="11" destOrd="0" presId="urn:microsoft.com/office/officeart/2005/8/layout/target3"/>
    <dgm:cxn modelId="{DB4F1DE7-EB44-41F6-B691-C0FFBCBB786D}" type="presParOf" srcId="{5C543D7D-CFBD-470B-8374-1D8D0E7F8CC1}" destId="{6758F4E9-E85A-4C88-B8D7-7CFD1322BB2A}" srcOrd="12" destOrd="0" presId="urn:microsoft.com/office/officeart/2005/8/layout/target3"/>
    <dgm:cxn modelId="{A7A56903-5BEC-4BA7-A336-956733A89FBE}" type="presParOf" srcId="{5C543D7D-CFBD-470B-8374-1D8D0E7F8CC1}" destId="{2FE347B5-5C81-4B35-B068-3BEFA250CFE4}" srcOrd="13" destOrd="0" presId="urn:microsoft.com/office/officeart/2005/8/layout/target3"/>
    <dgm:cxn modelId="{071BC172-1695-47AB-88D8-02AC1085FDC3}" type="presParOf" srcId="{5C543D7D-CFBD-470B-8374-1D8D0E7F8CC1}" destId="{4DD9C7B3-2D04-45C6-AE22-F874AE4C7929}" srcOrd="14" destOrd="0" presId="urn:microsoft.com/office/officeart/2005/8/layout/target3"/>
    <dgm:cxn modelId="{9D342A4F-07E0-4522-8C77-29DEF5FFBC28}" type="presParOf" srcId="{5C543D7D-CFBD-470B-8374-1D8D0E7F8CC1}" destId="{9AB61E9C-B23E-433D-820D-3420DD968595}" srcOrd="15"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755CC9-E1A9-493A-B8B6-743D94D4FB01}">
      <dsp:nvSpPr>
        <dsp:cNvPr id="0" name=""/>
        <dsp:cNvSpPr/>
      </dsp:nvSpPr>
      <dsp:spPr>
        <a:xfrm>
          <a:off x="0" y="0"/>
          <a:ext cx="3763704" cy="3763704"/>
        </a:xfrm>
        <a:prstGeom prst="pie">
          <a:avLst>
            <a:gd name="adj1" fmla="val 5400000"/>
            <a:gd name="adj2" fmla="val 16200000"/>
          </a:avLst>
        </a:prstGeom>
        <a:solidFill>
          <a:schemeClr val="accent1">
            <a:alpha val="9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5ADED7-95DD-44A7-84C5-4CBA8AD2E970}">
      <dsp:nvSpPr>
        <dsp:cNvPr id="0" name=""/>
        <dsp:cNvSpPr/>
      </dsp:nvSpPr>
      <dsp:spPr>
        <a:xfrm>
          <a:off x="1860844" y="0"/>
          <a:ext cx="7475995" cy="3763704"/>
        </a:xfrm>
        <a:prstGeom prst="rect">
          <a:avLst/>
        </a:prstGeom>
        <a:solidFill>
          <a:schemeClr val="lt1">
            <a:alpha val="90000"/>
            <a:hueOff val="0"/>
            <a:satOff val="0"/>
            <a:lumOff val="0"/>
            <a:alphaOff val="0"/>
          </a:schemeClr>
        </a:solidFill>
        <a:ln w="15875" cap="rnd" cmpd="sng" algn="ctr">
          <a:solidFill>
            <a:schemeClr val="accent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tr-TR" sz="2200" u="sng" kern="1200" dirty="0"/>
            <a:t>OpenLibrary ile kitap verileri</a:t>
          </a:r>
        </a:p>
      </dsp:txBody>
      <dsp:txXfrm>
        <a:off x="1860844" y="0"/>
        <a:ext cx="7475995" cy="470464"/>
      </dsp:txXfrm>
    </dsp:sp>
    <dsp:sp modelId="{8FBC8223-A26A-4545-9595-03D612EE6B72}">
      <dsp:nvSpPr>
        <dsp:cNvPr id="0" name=""/>
        <dsp:cNvSpPr/>
      </dsp:nvSpPr>
      <dsp:spPr>
        <a:xfrm>
          <a:off x="329324" y="470464"/>
          <a:ext cx="3105054" cy="3105054"/>
        </a:xfrm>
        <a:prstGeom prst="pie">
          <a:avLst>
            <a:gd name="adj1" fmla="val 5400000"/>
            <a:gd name="adj2" fmla="val 16200000"/>
          </a:avLst>
        </a:prstGeom>
        <a:solidFill>
          <a:schemeClr val="accent1">
            <a:alpha val="90000"/>
            <a:hueOff val="0"/>
            <a:satOff val="0"/>
            <a:lumOff val="0"/>
            <a:alphaOff val="-8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6D7630-623A-4227-A9A9-5A212836BE57}">
      <dsp:nvSpPr>
        <dsp:cNvPr id="0" name=""/>
        <dsp:cNvSpPr/>
      </dsp:nvSpPr>
      <dsp:spPr>
        <a:xfrm>
          <a:off x="1881852" y="470464"/>
          <a:ext cx="7475995" cy="3105054"/>
        </a:xfrm>
        <a:prstGeom prst="rect">
          <a:avLst/>
        </a:prstGeom>
        <a:solidFill>
          <a:schemeClr val="lt1">
            <a:alpha val="90000"/>
            <a:hueOff val="0"/>
            <a:satOff val="0"/>
            <a:lumOff val="0"/>
            <a:alphaOff val="0"/>
          </a:schemeClr>
        </a:solidFill>
        <a:ln w="15875" cap="rnd" cmpd="sng" algn="ctr">
          <a:solidFill>
            <a:schemeClr val="accent1">
              <a:alpha val="90000"/>
              <a:hueOff val="0"/>
              <a:satOff val="0"/>
              <a:lumOff val="0"/>
              <a:alphaOff val="-8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tr-TR" sz="2200" u="sng" kern="1200" dirty="0"/>
            <a:t>Selenium kurulumu</a:t>
          </a:r>
        </a:p>
      </dsp:txBody>
      <dsp:txXfrm>
        <a:off x="1881852" y="470464"/>
        <a:ext cx="7475995" cy="470464"/>
      </dsp:txXfrm>
    </dsp:sp>
    <dsp:sp modelId="{D2987C3B-DA4C-4A47-AC54-DF2A43E40B76}">
      <dsp:nvSpPr>
        <dsp:cNvPr id="0" name=""/>
        <dsp:cNvSpPr/>
      </dsp:nvSpPr>
      <dsp:spPr>
        <a:xfrm>
          <a:off x="658649" y="940928"/>
          <a:ext cx="2446405" cy="2446405"/>
        </a:xfrm>
        <a:prstGeom prst="pie">
          <a:avLst>
            <a:gd name="adj1" fmla="val 5400000"/>
            <a:gd name="adj2" fmla="val 16200000"/>
          </a:avLst>
        </a:prstGeom>
        <a:solidFill>
          <a:schemeClr val="accent1">
            <a:alpha val="90000"/>
            <a:hueOff val="0"/>
            <a:satOff val="0"/>
            <a:lumOff val="0"/>
            <a:alphaOff val="-16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F2B031-B8BC-47FF-978E-99CC3B0113C0}">
      <dsp:nvSpPr>
        <dsp:cNvPr id="0" name=""/>
        <dsp:cNvSpPr/>
      </dsp:nvSpPr>
      <dsp:spPr>
        <a:xfrm>
          <a:off x="1881852" y="940928"/>
          <a:ext cx="7475995" cy="2446405"/>
        </a:xfrm>
        <a:prstGeom prst="rect">
          <a:avLst/>
        </a:prstGeom>
        <a:solidFill>
          <a:schemeClr val="lt1">
            <a:alpha val="90000"/>
            <a:hueOff val="0"/>
            <a:satOff val="0"/>
            <a:lumOff val="0"/>
            <a:alphaOff val="0"/>
          </a:schemeClr>
        </a:solidFill>
        <a:ln w="15875" cap="rnd" cmpd="sng" algn="ctr">
          <a:solidFill>
            <a:schemeClr val="accent1">
              <a:alpha val="90000"/>
              <a:hueOff val="0"/>
              <a:satOff val="0"/>
              <a:lumOff val="0"/>
              <a:alphaOff val="-16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tr-TR" sz="2200" u="sng" kern="1200" dirty="0"/>
            <a:t>Selenium ile istenilen verilerin çekilmesi</a:t>
          </a:r>
        </a:p>
      </dsp:txBody>
      <dsp:txXfrm>
        <a:off x="1881852" y="940928"/>
        <a:ext cx="7475995" cy="470460"/>
      </dsp:txXfrm>
    </dsp:sp>
    <dsp:sp modelId="{92A8F5CB-38FA-40E0-9948-0DDF2DD96531}">
      <dsp:nvSpPr>
        <dsp:cNvPr id="0" name=""/>
        <dsp:cNvSpPr/>
      </dsp:nvSpPr>
      <dsp:spPr>
        <a:xfrm>
          <a:off x="987972" y="1411388"/>
          <a:ext cx="1787759" cy="1787759"/>
        </a:xfrm>
        <a:prstGeom prst="pie">
          <a:avLst>
            <a:gd name="adj1" fmla="val 5400000"/>
            <a:gd name="adj2" fmla="val 16200000"/>
          </a:avLst>
        </a:prstGeom>
        <a:solidFill>
          <a:schemeClr val="accent1">
            <a:alpha val="90000"/>
            <a:hueOff val="0"/>
            <a:satOff val="0"/>
            <a:lumOff val="0"/>
            <a:alphaOff val="-24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D19652-8926-4143-9A66-453C52D9DC06}">
      <dsp:nvSpPr>
        <dsp:cNvPr id="0" name=""/>
        <dsp:cNvSpPr/>
      </dsp:nvSpPr>
      <dsp:spPr>
        <a:xfrm>
          <a:off x="1881852" y="1411388"/>
          <a:ext cx="7475995" cy="1787759"/>
        </a:xfrm>
        <a:prstGeom prst="rect">
          <a:avLst/>
        </a:prstGeom>
        <a:solidFill>
          <a:schemeClr val="lt1">
            <a:alpha val="90000"/>
            <a:hueOff val="0"/>
            <a:satOff val="0"/>
            <a:lumOff val="0"/>
            <a:alphaOff val="0"/>
          </a:schemeClr>
        </a:solidFill>
        <a:ln w="15875" cap="rnd" cmpd="sng" algn="ctr">
          <a:solidFill>
            <a:schemeClr val="accent1">
              <a:alpha val="90000"/>
              <a:hueOff val="0"/>
              <a:satOff val="0"/>
              <a:lumOff val="0"/>
              <a:alphaOff val="-24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tr-TR" sz="2200" u="sng" kern="1200" dirty="0"/>
            <a:t>Çekilen verilere göre grafik oluşturma</a:t>
          </a:r>
        </a:p>
      </dsp:txBody>
      <dsp:txXfrm>
        <a:off x="1881852" y="1411388"/>
        <a:ext cx="7475995" cy="470464"/>
      </dsp:txXfrm>
    </dsp:sp>
    <dsp:sp modelId="{67D94023-2A0A-43F8-85BC-3A8331D1645B}">
      <dsp:nvSpPr>
        <dsp:cNvPr id="0" name=""/>
        <dsp:cNvSpPr/>
      </dsp:nvSpPr>
      <dsp:spPr>
        <a:xfrm>
          <a:off x="1317296" y="1881853"/>
          <a:ext cx="1129110" cy="1129110"/>
        </a:xfrm>
        <a:prstGeom prst="pie">
          <a:avLst>
            <a:gd name="adj1" fmla="val 5400000"/>
            <a:gd name="adj2" fmla="val 16200000"/>
          </a:avLst>
        </a:prstGeom>
        <a:solidFill>
          <a:schemeClr val="accent1">
            <a:alpha val="90000"/>
            <a:hueOff val="0"/>
            <a:satOff val="0"/>
            <a:lumOff val="0"/>
            <a:alphaOff val="-32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7380E1-5177-453F-B0DA-FD7120EDF3DB}">
      <dsp:nvSpPr>
        <dsp:cNvPr id="0" name=""/>
        <dsp:cNvSpPr/>
      </dsp:nvSpPr>
      <dsp:spPr>
        <a:xfrm>
          <a:off x="1881852" y="1881853"/>
          <a:ext cx="7475995" cy="1129110"/>
        </a:xfrm>
        <a:prstGeom prst="rect">
          <a:avLst/>
        </a:prstGeom>
        <a:solidFill>
          <a:schemeClr val="lt1">
            <a:alpha val="90000"/>
            <a:hueOff val="0"/>
            <a:satOff val="0"/>
            <a:lumOff val="0"/>
            <a:alphaOff val="0"/>
          </a:schemeClr>
        </a:solidFill>
        <a:ln w="15875" cap="rnd" cmpd="sng" algn="ctr">
          <a:solidFill>
            <a:schemeClr val="accent1">
              <a:alpha val="90000"/>
              <a:hueOff val="0"/>
              <a:satOff val="0"/>
              <a:lumOff val="0"/>
              <a:alphaOff val="-32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tr-TR" sz="2200" u="sng" kern="1200" dirty="0"/>
            <a:t>Sunum</a:t>
          </a:r>
        </a:p>
      </dsp:txBody>
      <dsp:txXfrm>
        <a:off x="1881852" y="1881853"/>
        <a:ext cx="7475995" cy="470464"/>
      </dsp:txXfrm>
    </dsp:sp>
    <dsp:sp modelId="{85450770-A507-42C9-88F7-CBD208D46FEA}">
      <dsp:nvSpPr>
        <dsp:cNvPr id="0" name=""/>
        <dsp:cNvSpPr/>
      </dsp:nvSpPr>
      <dsp:spPr>
        <a:xfrm>
          <a:off x="1646621" y="2352317"/>
          <a:ext cx="470460" cy="470460"/>
        </a:xfrm>
        <a:prstGeom prst="pie">
          <a:avLst>
            <a:gd name="adj1" fmla="val 5400000"/>
            <a:gd name="adj2" fmla="val 16200000"/>
          </a:avLst>
        </a:prstGeom>
        <a:solidFill>
          <a:schemeClr val="accent1">
            <a:alpha val="90000"/>
            <a:hueOff val="0"/>
            <a:satOff val="0"/>
            <a:lumOff val="0"/>
            <a:alphaOff val="-4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233522-2EAB-4955-B566-3FDE40E66AD0}">
      <dsp:nvSpPr>
        <dsp:cNvPr id="0" name=""/>
        <dsp:cNvSpPr/>
      </dsp:nvSpPr>
      <dsp:spPr>
        <a:xfrm>
          <a:off x="1881852" y="2352317"/>
          <a:ext cx="7475995" cy="470460"/>
        </a:xfrm>
        <a:prstGeom prst="rect">
          <a:avLst/>
        </a:prstGeom>
        <a:solidFill>
          <a:schemeClr val="lt1">
            <a:alpha val="90000"/>
            <a:hueOff val="0"/>
            <a:satOff val="0"/>
            <a:lumOff val="0"/>
            <a:alphaOff val="0"/>
          </a:schemeClr>
        </a:solidFill>
        <a:ln w="15875" cap="rnd" cmpd="sng" algn="ctr">
          <a:solidFill>
            <a:schemeClr val="accent1">
              <a:alpha val="90000"/>
              <a:hueOff val="0"/>
              <a:satOff val="0"/>
              <a:lumOff val="0"/>
              <a:alphaOff val="-4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tr-TR" sz="2200" u="sng" kern="1200" dirty="0"/>
            <a:t>Kaynakça</a:t>
          </a:r>
        </a:p>
      </dsp:txBody>
      <dsp:txXfrm>
        <a:off x="1881852" y="2352317"/>
        <a:ext cx="7475995" cy="4704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B15380-38AE-46E0-A6D7-D5EDC10958CA}">
      <dsp:nvSpPr>
        <dsp:cNvPr id="0" name=""/>
        <dsp:cNvSpPr/>
      </dsp:nvSpPr>
      <dsp:spPr>
        <a:xfrm>
          <a:off x="0" y="0"/>
          <a:ext cx="4515951" cy="4515951"/>
        </a:xfrm>
        <a:prstGeom prst="pie">
          <a:avLst>
            <a:gd name="adj1" fmla="val 5400000"/>
            <a:gd name="adj2" fmla="val 16200000"/>
          </a:avLst>
        </a:prstGeom>
        <a:solidFill>
          <a:schemeClr val="accent4"/>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09DD95-B27D-4664-B39C-AEC1ADC3817E}">
      <dsp:nvSpPr>
        <dsp:cNvPr id="0" name=""/>
        <dsp:cNvSpPr/>
      </dsp:nvSpPr>
      <dsp:spPr>
        <a:xfrm>
          <a:off x="2257975" y="0"/>
          <a:ext cx="8095786" cy="4515951"/>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tr-TR" sz="3200" u="sng" kern="1200" dirty="0"/>
            <a:t>Tanımlayıcı İstatistikler</a:t>
          </a:r>
        </a:p>
      </dsp:txBody>
      <dsp:txXfrm>
        <a:off x="2257975" y="0"/>
        <a:ext cx="8095786" cy="959639"/>
      </dsp:txXfrm>
    </dsp:sp>
    <dsp:sp modelId="{98B34221-80DB-4C79-B397-558A41A349F1}">
      <dsp:nvSpPr>
        <dsp:cNvPr id="0" name=""/>
        <dsp:cNvSpPr/>
      </dsp:nvSpPr>
      <dsp:spPr>
        <a:xfrm>
          <a:off x="592718" y="959639"/>
          <a:ext cx="3330513" cy="3330513"/>
        </a:xfrm>
        <a:prstGeom prst="pie">
          <a:avLst>
            <a:gd name="adj1" fmla="val 5400000"/>
            <a:gd name="adj2" fmla="val 16200000"/>
          </a:avLst>
        </a:prstGeom>
        <a:solidFill>
          <a:schemeClr val="accent4"/>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DC4342-EE65-4E0A-959D-0B651705A543}">
      <dsp:nvSpPr>
        <dsp:cNvPr id="0" name=""/>
        <dsp:cNvSpPr/>
      </dsp:nvSpPr>
      <dsp:spPr>
        <a:xfrm>
          <a:off x="2257975" y="959639"/>
          <a:ext cx="8095786" cy="3330513"/>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tr-TR" sz="3200" u="sng" kern="1200" dirty="0"/>
            <a:t>Görselleştirme</a:t>
          </a:r>
        </a:p>
      </dsp:txBody>
      <dsp:txXfrm>
        <a:off x="2257975" y="959639"/>
        <a:ext cx="8095786" cy="959639"/>
      </dsp:txXfrm>
    </dsp:sp>
    <dsp:sp modelId="{31FDAEAA-A78C-458F-B32D-9EC517F98CC4}">
      <dsp:nvSpPr>
        <dsp:cNvPr id="0" name=""/>
        <dsp:cNvSpPr/>
      </dsp:nvSpPr>
      <dsp:spPr>
        <a:xfrm>
          <a:off x="1185437" y="1919279"/>
          <a:ext cx="2145076" cy="2145076"/>
        </a:xfrm>
        <a:prstGeom prst="pie">
          <a:avLst>
            <a:gd name="adj1" fmla="val 5400000"/>
            <a:gd name="adj2" fmla="val 16200000"/>
          </a:avLst>
        </a:prstGeom>
        <a:solidFill>
          <a:schemeClr val="accent4"/>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64EE8E-2EAB-42F4-88E0-FA476D6951BC}">
      <dsp:nvSpPr>
        <dsp:cNvPr id="0" name=""/>
        <dsp:cNvSpPr/>
      </dsp:nvSpPr>
      <dsp:spPr>
        <a:xfrm>
          <a:off x="2257975" y="1919279"/>
          <a:ext cx="8095786" cy="2145076"/>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tr-TR" sz="3200" u="sng" kern="1200" dirty="0"/>
            <a:t>Hipotez Testleri</a:t>
          </a:r>
        </a:p>
      </dsp:txBody>
      <dsp:txXfrm>
        <a:off x="2257975" y="1919279"/>
        <a:ext cx="8095786" cy="959639"/>
      </dsp:txXfrm>
    </dsp:sp>
    <dsp:sp modelId="{31DE786A-03F6-4792-9A7E-5B5F7C8285EB}">
      <dsp:nvSpPr>
        <dsp:cNvPr id="0" name=""/>
        <dsp:cNvSpPr/>
      </dsp:nvSpPr>
      <dsp:spPr>
        <a:xfrm>
          <a:off x="1778155" y="2878918"/>
          <a:ext cx="959639" cy="959639"/>
        </a:xfrm>
        <a:prstGeom prst="pie">
          <a:avLst>
            <a:gd name="adj1" fmla="val 5400000"/>
            <a:gd name="adj2" fmla="val 16200000"/>
          </a:avLst>
        </a:prstGeom>
        <a:solidFill>
          <a:schemeClr val="accent4"/>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7B5EF1-EB3A-442F-BFB6-E263A109740D}">
      <dsp:nvSpPr>
        <dsp:cNvPr id="0" name=""/>
        <dsp:cNvSpPr/>
      </dsp:nvSpPr>
      <dsp:spPr>
        <a:xfrm>
          <a:off x="2257975" y="2878918"/>
          <a:ext cx="8095786" cy="959639"/>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tr-TR" sz="3200" u="sng" kern="1200" dirty="0"/>
            <a:t>Korelasyon Analizi</a:t>
          </a:r>
        </a:p>
      </dsp:txBody>
      <dsp:txXfrm>
        <a:off x="2257975" y="2878918"/>
        <a:ext cx="8095786" cy="959639"/>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tr-TR"/>
              <a:t>Asıl başlık stilini düzenlemek için tıklayın</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60CDA8A0-A0EE-4772-B829-476AF40D6EE7}" type="datetimeFigureOut">
              <a:rPr lang="tr-TR" smtClean="0"/>
              <a:t>2.12.2024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4192502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0CDA8A0-A0EE-4772-B829-476AF40D6EE7}" type="datetimeFigureOut">
              <a:rPr lang="tr-TR" smtClean="0"/>
              <a:t>2.12.2024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276874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0CDA8A0-A0EE-4772-B829-476AF40D6EE7}" type="datetimeFigureOut">
              <a:rPr lang="tr-TR" smtClean="0"/>
              <a:t>2.12.2024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3724149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60CDA8A0-A0EE-4772-B829-476AF40D6EE7}" type="datetimeFigureOut">
              <a:rPr lang="tr-TR" smtClean="0"/>
              <a:t>2.12.2024</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330908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60CDA8A0-A0EE-4772-B829-476AF40D6EE7}" type="datetimeFigureOut">
              <a:rPr lang="tr-TR" smtClean="0"/>
              <a:t>2.12.2024</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2050380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60CDA8A0-A0EE-4772-B829-476AF40D6EE7}" type="datetimeFigureOut">
              <a:rPr lang="tr-TR" smtClean="0"/>
              <a:t>2.12.2024</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3667522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CDA8A0-A0EE-4772-B829-476AF40D6EE7}" type="datetimeFigureOut">
              <a:rPr lang="tr-TR" smtClean="0"/>
              <a:t>2.12.2024</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1216610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0CDA8A0-A0EE-4772-B829-476AF40D6EE7}" type="datetimeFigureOut">
              <a:rPr lang="tr-TR" smtClean="0"/>
              <a:t>2.12.2024</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1081978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0CDA8A0-A0EE-4772-B829-476AF40D6EE7}" type="datetimeFigureOut">
              <a:rPr lang="tr-TR" smtClean="0"/>
              <a:t>2.12.2024</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491004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0CDA8A0-A0EE-4772-B829-476AF40D6EE7}" type="datetimeFigureOut">
              <a:rPr lang="tr-TR" smtClean="0"/>
              <a:t>2.12.2024</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1296257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0CDA8A0-A0EE-4772-B829-476AF40D6EE7}" type="datetimeFigureOut">
              <a:rPr lang="tr-TR" smtClean="0"/>
              <a:t>2.12.2024</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319107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tr-TR"/>
              <a:t>Asıl başlık stilini düzenlemek için tıklayın</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0CDA8A0-A0EE-4772-B829-476AF40D6EE7}" type="datetimeFigureOut">
              <a:rPr lang="tr-TR" smtClean="0"/>
              <a:t>2.12.2024</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31E86EF3-5A8F-42FF-A629-64201B2E931B}" type="slidenum">
              <a:rPr lang="tr-TR" smtClean="0"/>
              <a:t>‹#›</a:t>
            </a:fld>
            <a:endParaRPr lang="tr-TR"/>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789096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0CDA8A0-A0EE-4772-B829-476AF40D6EE7}" type="datetimeFigureOut">
              <a:rPr lang="tr-TR" smtClean="0"/>
              <a:t>2.12.2024</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33830180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tr-TR"/>
              <a:t>Asıl başlık stilini düzenlemek için tıklayın</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60CDA8A0-A0EE-4772-B829-476AF40D6EE7}" type="datetimeFigureOut">
              <a:rPr lang="tr-TR" smtClean="0"/>
              <a:t>2.12.2024</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2122737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tr-TR"/>
              <a:t>Asıl başlık stilini düzenlemek için tıklayın</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60CDA8A0-A0EE-4772-B829-476AF40D6EE7}" type="datetimeFigureOut">
              <a:rPr lang="tr-TR" smtClean="0"/>
              <a:t>2.12.2024</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28178362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0CDA8A0-A0EE-4772-B829-476AF40D6EE7}" type="datetimeFigureOut">
              <a:rPr lang="tr-TR" smtClean="0"/>
              <a:t>2.12.2024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4021689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0CDA8A0-A0EE-4772-B829-476AF40D6EE7}" type="datetimeFigureOut">
              <a:rPr lang="tr-TR" smtClean="0"/>
              <a:t>2.12.2024</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31E86EF3-5A8F-42FF-A629-64201B2E931B}" type="slidenum">
              <a:rPr lang="tr-TR" smtClean="0"/>
              <a:t>‹#›</a:t>
            </a:fld>
            <a:endParaRPr lang="tr-TR"/>
          </a:p>
        </p:txBody>
      </p:sp>
    </p:spTree>
    <p:extLst>
      <p:ext uri="{BB962C8B-B14F-4D97-AF65-F5344CB8AC3E}">
        <p14:creationId xmlns:p14="http://schemas.microsoft.com/office/powerpoint/2010/main" val="2177948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60CDA8A0-A0EE-4772-B829-476AF40D6EE7}" type="datetimeFigureOut">
              <a:rPr lang="tr-TR" smtClean="0"/>
              <a:t>2.12.2024</a:t>
            </a:fld>
            <a:endParaRPr lang="tr-TR"/>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tr-TR"/>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1E86EF3-5A8F-42FF-A629-64201B2E931B}" type="slidenum">
              <a:rPr lang="tr-TR" smtClean="0"/>
              <a:t>‹#›</a:t>
            </a:fld>
            <a:endParaRPr lang="tr-TR"/>
          </a:p>
        </p:txBody>
      </p:sp>
    </p:spTree>
    <p:extLst>
      <p:ext uri="{BB962C8B-B14F-4D97-AF65-F5344CB8AC3E}">
        <p14:creationId xmlns:p14="http://schemas.microsoft.com/office/powerpoint/2010/main" val="39109230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9BE44FA-632B-3E75-85D4-B79805A6FC2E}"/>
              </a:ext>
            </a:extLst>
          </p:cNvPr>
          <p:cNvSpPr>
            <a:spLocks noGrp="1"/>
          </p:cNvSpPr>
          <p:nvPr>
            <p:ph type="ctrTitle"/>
          </p:nvPr>
        </p:nvSpPr>
        <p:spPr>
          <a:xfrm>
            <a:off x="1375983" y="289532"/>
            <a:ext cx="9440034" cy="1049868"/>
          </a:xfrm>
        </p:spPr>
        <p:txBody>
          <a:bodyPr>
            <a:normAutofit/>
          </a:bodyPr>
          <a:lstStyle/>
          <a:p>
            <a:r>
              <a:rPr lang="tr-TR" b="1" i="1" dirty="0"/>
              <a:t>SELENİUM İLE VERİ ÇEKME</a:t>
            </a:r>
          </a:p>
        </p:txBody>
      </p:sp>
      <p:graphicFrame>
        <p:nvGraphicFramePr>
          <p:cNvPr id="4" name="Diyagram 3">
            <a:extLst>
              <a:ext uri="{FF2B5EF4-FFF2-40B4-BE49-F238E27FC236}">
                <a16:creationId xmlns:a16="http://schemas.microsoft.com/office/drawing/2014/main" id="{A73A8C01-C60A-4B4A-1A5F-89158C77B2FE}"/>
              </a:ext>
            </a:extLst>
          </p:cNvPr>
          <p:cNvGraphicFramePr/>
          <p:nvPr>
            <p:extLst>
              <p:ext uri="{D42A27DB-BD31-4B8C-83A1-F6EECF244321}">
                <p14:modId xmlns:p14="http://schemas.microsoft.com/office/powerpoint/2010/main" val="1713344084"/>
              </p:ext>
            </p:extLst>
          </p:nvPr>
        </p:nvGraphicFramePr>
        <p:xfrm>
          <a:off x="1535066" y="2366145"/>
          <a:ext cx="9357847" cy="37637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Metin kutusu 4">
            <a:extLst>
              <a:ext uri="{FF2B5EF4-FFF2-40B4-BE49-F238E27FC236}">
                <a16:creationId xmlns:a16="http://schemas.microsoft.com/office/drawing/2014/main" id="{072EAE70-A103-2E12-5119-6AC06CB8DABC}"/>
              </a:ext>
            </a:extLst>
          </p:cNvPr>
          <p:cNvSpPr txBox="1"/>
          <p:nvPr/>
        </p:nvSpPr>
        <p:spPr>
          <a:xfrm>
            <a:off x="1859280" y="1478281"/>
            <a:ext cx="3017520" cy="400110"/>
          </a:xfrm>
          <a:prstGeom prst="rect">
            <a:avLst/>
          </a:prstGeom>
          <a:noFill/>
        </p:spPr>
        <p:txBody>
          <a:bodyPr wrap="square" rtlCol="0">
            <a:spAutoFit/>
          </a:bodyPr>
          <a:lstStyle/>
          <a:p>
            <a:r>
              <a:rPr lang="tr-TR" sz="2000" b="1" dirty="0">
                <a:solidFill>
                  <a:schemeClr val="accent1">
                    <a:lumMod val="40000"/>
                    <a:lumOff val="60000"/>
                  </a:schemeClr>
                </a:solidFill>
              </a:rPr>
              <a:t>PROJE ADIMLARI:</a:t>
            </a:r>
          </a:p>
        </p:txBody>
      </p:sp>
    </p:spTree>
    <p:extLst>
      <p:ext uri="{BB962C8B-B14F-4D97-AF65-F5344CB8AC3E}">
        <p14:creationId xmlns:p14="http://schemas.microsoft.com/office/powerpoint/2010/main" val="2639352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759F677-67DF-EE82-295C-49662C7AA251}"/>
              </a:ext>
            </a:extLst>
          </p:cNvPr>
          <p:cNvSpPr>
            <a:spLocks noGrp="1"/>
          </p:cNvSpPr>
          <p:nvPr>
            <p:ph type="title"/>
          </p:nvPr>
        </p:nvSpPr>
        <p:spPr>
          <a:xfrm>
            <a:off x="913795" y="254524"/>
            <a:ext cx="10353762" cy="923827"/>
          </a:xfrm>
        </p:spPr>
        <p:txBody>
          <a:bodyPr>
            <a:normAutofit/>
          </a:bodyPr>
          <a:lstStyle/>
          <a:p>
            <a:r>
              <a:rPr lang="tr-TR" sz="4400" b="1" u="sng" dirty="0">
                <a:solidFill>
                  <a:srgbClr val="002060"/>
                </a:solidFill>
              </a:rPr>
              <a:t>OpenLibrary İle Kitap Verileri </a:t>
            </a:r>
          </a:p>
        </p:txBody>
      </p:sp>
      <p:sp>
        <p:nvSpPr>
          <p:cNvPr id="3" name="İçerik Yer Tutucusu 2">
            <a:extLst>
              <a:ext uri="{FF2B5EF4-FFF2-40B4-BE49-F238E27FC236}">
                <a16:creationId xmlns:a16="http://schemas.microsoft.com/office/drawing/2014/main" id="{143A41F1-044B-1699-AE2F-E3421AB5845A}"/>
              </a:ext>
            </a:extLst>
          </p:cNvPr>
          <p:cNvSpPr>
            <a:spLocks noGrp="1"/>
          </p:cNvSpPr>
          <p:nvPr>
            <p:ph idx="1"/>
          </p:nvPr>
        </p:nvSpPr>
        <p:spPr>
          <a:xfrm>
            <a:off x="824851" y="5439267"/>
            <a:ext cx="10353762" cy="1164210"/>
          </a:xfrm>
        </p:spPr>
        <p:txBody>
          <a:bodyPr>
            <a:normAutofit fontScale="92500" lnSpcReduction="10000"/>
          </a:bodyPr>
          <a:lstStyle/>
          <a:p>
            <a:pPr marL="36900" indent="0">
              <a:buNone/>
            </a:pPr>
            <a:r>
              <a:rPr lang="tr-TR" dirty="0"/>
              <a:t>Konuyu belirme aşamasında ilgimi çeken bir konu olmasını istedim ve bu konunun  kitap olmasına karar verdim. OpenLibrary internet sitesinden Bilim Kurgu kategorisinde bulunan kitapların adı, yazarı, sayfa sayısı, zamanı, dili, yayıncı ve okumak isteyenler, şu anda okuyanlar, okumuş olanlar olarak veri değerlerini aldım.</a:t>
            </a:r>
          </a:p>
        </p:txBody>
      </p:sp>
      <p:pic>
        <p:nvPicPr>
          <p:cNvPr id="5" name="Resim 4">
            <a:extLst>
              <a:ext uri="{FF2B5EF4-FFF2-40B4-BE49-F238E27FC236}">
                <a16:creationId xmlns:a16="http://schemas.microsoft.com/office/drawing/2014/main" id="{8C7FA8EC-4077-1EA7-F3B2-4F4578F4F8F4}"/>
              </a:ext>
            </a:extLst>
          </p:cNvPr>
          <p:cNvPicPr>
            <a:picLocks noChangeAspect="1"/>
          </p:cNvPicPr>
          <p:nvPr/>
        </p:nvPicPr>
        <p:blipFill>
          <a:blip r:embed="rId2"/>
          <a:stretch>
            <a:fillRect/>
          </a:stretch>
        </p:blipFill>
        <p:spPr>
          <a:xfrm>
            <a:off x="2843754" y="1178351"/>
            <a:ext cx="6315956" cy="4010585"/>
          </a:xfrm>
          <a:prstGeom prst="rect">
            <a:avLst/>
          </a:prstGeom>
        </p:spPr>
      </p:pic>
    </p:spTree>
    <p:extLst>
      <p:ext uri="{BB962C8B-B14F-4D97-AF65-F5344CB8AC3E}">
        <p14:creationId xmlns:p14="http://schemas.microsoft.com/office/powerpoint/2010/main" val="2001595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AA3B05B-1A82-4C3A-65DF-12A2D33C8663}"/>
              </a:ext>
            </a:extLst>
          </p:cNvPr>
          <p:cNvSpPr>
            <a:spLocks noGrp="1"/>
          </p:cNvSpPr>
          <p:nvPr>
            <p:ph type="title"/>
          </p:nvPr>
        </p:nvSpPr>
        <p:spPr>
          <a:xfrm>
            <a:off x="919119" y="320512"/>
            <a:ext cx="10353762" cy="1395166"/>
          </a:xfrm>
        </p:spPr>
        <p:txBody>
          <a:bodyPr>
            <a:normAutofit/>
          </a:bodyPr>
          <a:lstStyle/>
          <a:p>
            <a:r>
              <a:rPr lang="tr-TR" sz="4800" b="1" u="sng" dirty="0">
                <a:solidFill>
                  <a:srgbClr val="8EA9C0"/>
                </a:solidFill>
              </a:rPr>
              <a:t>Selenium Kurulumu</a:t>
            </a:r>
          </a:p>
        </p:txBody>
      </p:sp>
      <p:pic>
        <p:nvPicPr>
          <p:cNvPr id="5" name="İçerik Yer Tutucusu 4">
            <a:extLst>
              <a:ext uri="{FF2B5EF4-FFF2-40B4-BE49-F238E27FC236}">
                <a16:creationId xmlns:a16="http://schemas.microsoft.com/office/drawing/2014/main" id="{520B1C21-11A6-F9CC-B257-C40330C30077}"/>
              </a:ext>
            </a:extLst>
          </p:cNvPr>
          <p:cNvPicPr>
            <a:picLocks noGrp="1" noChangeAspect="1"/>
          </p:cNvPicPr>
          <p:nvPr>
            <p:ph idx="1"/>
          </p:nvPr>
        </p:nvPicPr>
        <p:blipFill>
          <a:blip r:embed="rId2"/>
          <a:stretch>
            <a:fillRect/>
          </a:stretch>
        </p:blipFill>
        <p:spPr>
          <a:xfrm>
            <a:off x="8333294" y="2381328"/>
            <a:ext cx="3355943" cy="2915450"/>
          </a:xfrm>
        </p:spPr>
      </p:pic>
      <p:sp>
        <p:nvSpPr>
          <p:cNvPr id="6" name="Metin kutusu 5">
            <a:extLst>
              <a:ext uri="{FF2B5EF4-FFF2-40B4-BE49-F238E27FC236}">
                <a16:creationId xmlns:a16="http://schemas.microsoft.com/office/drawing/2014/main" id="{F742E505-1D92-47EA-71F9-05C0548DB5BF}"/>
              </a:ext>
            </a:extLst>
          </p:cNvPr>
          <p:cNvSpPr txBox="1"/>
          <p:nvPr/>
        </p:nvSpPr>
        <p:spPr>
          <a:xfrm>
            <a:off x="653593" y="2485023"/>
            <a:ext cx="6410227" cy="2554545"/>
          </a:xfrm>
          <a:prstGeom prst="rect">
            <a:avLst/>
          </a:prstGeom>
          <a:noFill/>
        </p:spPr>
        <p:txBody>
          <a:bodyPr wrap="square" rtlCol="0">
            <a:spAutoFit/>
          </a:bodyPr>
          <a:lstStyle/>
          <a:p>
            <a:r>
              <a:rPr lang="tr-TR" sz="2000" b="1" dirty="0"/>
              <a:t>Selenium</a:t>
            </a:r>
            <a:r>
              <a:rPr lang="tr-TR" sz="2000" dirty="0"/>
              <a:t>, web tarayıcılarını otomatikleştirmek için kullanılan açık kaynaklı bir araçtır. Tarayıcı üzerinde manuel yapılan form doldurma, butona tıklama, sayfa kaydırma gibi işlemleri otomatik hale getirir ve genellikle test otomasyonu veya web scraping için kullanılır.</a:t>
            </a:r>
          </a:p>
          <a:p>
            <a:endParaRPr lang="tr-TR" sz="2000" dirty="0"/>
          </a:p>
          <a:p>
            <a:r>
              <a:rPr lang="tr-TR" sz="2000" dirty="0"/>
              <a:t>Selenium kurulumunu kendi resmi sitesinden adım adım giderek kurmak mümkündür.</a:t>
            </a:r>
          </a:p>
        </p:txBody>
      </p:sp>
    </p:spTree>
    <p:extLst>
      <p:ext uri="{BB962C8B-B14F-4D97-AF65-F5344CB8AC3E}">
        <p14:creationId xmlns:p14="http://schemas.microsoft.com/office/powerpoint/2010/main" val="3616433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D180822-3144-B06D-6300-A6080ED28701}"/>
              </a:ext>
            </a:extLst>
          </p:cNvPr>
          <p:cNvSpPr>
            <a:spLocks noGrp="1"/>
          </p:cNvSpPr>
          <p:nvPr>
            <p:ph type="title"/>
          </p:nvPr>
        </p:nvSpPr>
        <p:spPr>
          <a:xfrm>
            <a:off x="913795" y="360862"/>
            <a:ext cx="10353762" cy="970450"/>
          </a:xfrm>
        </p:spPr>
        <p:txBody>
          <a:bodyPr/>
          <a:lstStyle/>
          <a:p>
            <a:r>
              <a:rPr lang="tr-TR" b="1" u="sng" dirty="0">
                <a:solidFill>
                  <a:srgbClr val="7030A0"/>
                </a:solidFill>
              </a:rPr>
              <a:t>Selenium İle İstenilen Verilerin Çekilmesi</a:t>
            </a:r>
          </a:p>
        </p:txBody>
      </p:sp>
      <p:sp>
        <p:nvSpPr>
          <p:cNvPr id="3" name="İçerik Yer Tutucusu 2">
            <a:extLst>
              <a:ext uri="{FF2B5EF4-FFF2-40B4-BE49-F238E27FC236}">
                <a16:creationId xmlns:a16="http://schemas.microsoft.com/office/drawing/2014/main" id="{2DA7DF83-6A0E-BDAC-F08B-AB971FC10ACB}"/>
              </a:ext>
            </a:extLst>
          </p:cNvPr>
          <p:cNvSpPr>
            <a:spLocks noGrp="1"/>
          </p:cNvSpPr>
          <p:nvPr>
            <p:ph idx="1"/>
          </p:nvPr>
        </p:nvSpPr>
        <p:spPr>
          <a:xfrm>
            <a:off x="913795" y="1449970"/>
            <a:ext cx="10353762" cy="1171007"/>
          </a:xfrm>
        </p:spPr>
        <p:txBody>
          <a:bodyPr/>
          <a:lstStyle/>
          <a:p>
            <a:pPr marL="36900" indent="0">
              <a:buNone/>
            </a:pPr>
            <a:r>
              <a:rPr lang="tr-TR" dirty="0"/>
              <a:t>Şu ana kadar veri çekeceğim siteye karar verdim, istediğim verilere de karar verip seleniumun kurulumunu yaptım. Bu aşamadan sonra tarayıcımı ayarladım ve veri çekme işlemime başladım.</a:t>
            </a:r>
          </a:p>
          <a:p>
            <a:pPr marL="36900" indent="0">
              <a:buNone/>
            </a:pPr>
            <a:endParaRPr lang="tr-TR" dirty="0"/>
          </a:p>
        </p:txBody>
      </p:sp>
      <p:pic>
        <p:nvPicPr>
          <p:cNvPr id="5" name="Resim 4">
            <a:extLst>
              <a:ext uri="{FF2B5EF4-FFF2-40B4-BE49-F238E27FC236}">
                <a16:creationId xmlns:a16="http://schemas.microsoft.com/office/drawing/2014/main" id="{5D4CB1A8-91F5-F7B6-7F7A-8CC5AC29263C}"/>
              </a:ext>
            </a:extLst>
          </p:cNvPr>
          <p:cNvPicPr>
            <a:picLocks noChangeAspect="1"/>
          </p:cNvPicPr>
          <p:nvPr/>
        </p:nvPicPr>
        <p:blipFill>
          <a:blip r:embed="rId2"/>
          <a:stretch>
            <a:fillRect/>
          </a:stretch>
        </p:blipFill>
        <p:spPr>
          <a:xfrm>
            <a:off x="292231" y="3281524"/>
            <a:ext cx="7240010" cy="2383985"/>
          </a:xfrm>
          <a:prstGeom prst="rect">
            <a:avLst/>
          </a:prstGeom>
        </p:spPr>
      </p:pic>
      <p:sp>
        <p:nvSpPr>
          <p:cNvPr id="6" name="Metin kutusu 5">
            <a:extLst>
              <a:ext uri="{FF2B5EF4-FFF2-40B4-BE49-F238E27FC236}">
                <a16:creationId xmlns:a16="http://schemas.microsoft.com/office/drawing/2014/main" id="{848CB4EE-17E4-691F-D7EC-4FEB164E1A15}"/>
              </a:ext>
            </a:extLst>
          </p:cNvPr>
          <p:cNvSpPr txBox="1"/>
          <p:nvPr/>
        </p:nvSpPr>
        <p:spPr>
          <a:xfrm>
            <a:off x="924443" y="2581918"/>
            <a:ext cx="7381188" cy="369332"/>
          </a:xfrm>
          <a:prstGeom prst="rect">
            <a:avLst/>
          </a:prstGeom>
          <a:noFill/>
        </p:spPr>
        <p:txBody>
          <a:bodyPr wrap="square" rtlCol="0">
            <a:spAutoFit/>
          </a:bodyPr>
          <a:lstStyle/>
          <a:p>
            <a:r>
              <a:rPr lang="tr-TR" b="1" i="1" dirty="0"/>
              <a:t>1. adım olarak gerekli kütüphaneleri içe aktardım </a:t>
            </a:r>
          </a:p>
        </p:txBody>
      </p:sp>
      <p:sp>
        <p:nvSpPr>
          <p:cNvPr id="7" name="Metin kutusu 6">
            <a:extLst>
              <a:ext uri="{FF2B5EF4-FFF2-40B4-BE49-F238E27FC236}">
                <a16:creationId xmlns:a16="http://schemas.microsoft.com/office/drawing/2014/main" id="{D20A54E5-264D-F406-636E-98323141CBAF}"/>
              </a:ext>
            </a:extLst>
          </p:cNvPr>
          <p:cNvSpPr txBox="1"/>
          <p:nvPr/>
        </p:nvSpPr>
        <p:spPr>
          <a:xfrm>
            <a:off x="7909089" y="4036684"/>
            <a:ext cx="3990680" cy="2031325"/>
          </a:xfrm>
          <a:prstGeom prst="rect">
            <a:avLst/>
          </a:prstGeom>
          <a:noFill/>
        </p:spPr>
        <p:txBody>
          <a:bodyPr wrap="square" rtlCol="0">
            <a:spAutoFit/>
          </a:bodyPr>
          <a:lstStyle/>
          <a:p>
            <a:r>
              <a:rPr lang="tr-TR" b="1" dirty="0"/>
              <a:t>Pandas</a:t>
            </a:r>
            <a:r>
              <a:rPr lang="tr-TR" dirty="0"/>
              <a:t>: Çekilen verileri tablo formatında saklamak ve CSV'ye kaydetmek için kullanılır.</a:t>
            </a:r>
          </a:p>
          <a:p>
            <a:endParaRPr lang="tr-TR" dirty="0"/>
          </a:p>
          <a:p>
            <a:r>
              <a:rPr lang="tr-TR" b="1" dirty="0"/>
              <a:t>time</a:t>
            </a:r>
            <a:r>
              <a:rPr lang="tr-TR" dirty="0"/>
              <a:t>: Kodun çalışmasını yavaşlatmak ve sayfa yüklenmesini beklemek için kullanılır.</a:t>
            </a:r>
          </a:p>
        </p:txBody>
      </p:sp>
    </p:spTree>
    <p:extLst>
      <p:ext uri="{BB962C8B-B14F-4D97-AF65-F5344CB8AC3E}">
        <p14:creationId xmlns:p14="http://schemas.microsoft.com/office/powerpoint/2010/main" val="1574524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C381F40-590D-DFEF-BAA3-9144649254A5}"/>
              </a:ext>
            </a:extLst>
          </p:cNvPr>
          <p:cNvSpPr>
            <a:spLocks noGrp="1"/>
          </p:cNvSpPr>
          <p:nvPr>
            <p:ph idx="1"/>
          </p:nvPr>
        </p:nvSpPr>
        <p:spPr>
          <a:xfrm>
            <a:off x="494518" y="212103"/>
            <a:ext cx="10353762" cy="369332"/>
          </a:xfrm>
        </p:spPr>
        <p:txBody>
          <a:bodyPr>
            <a:normAutofit lnSpcReduction="10000"/>
          </a:bodyPr>
          <a:lstStyle/>
          <a:p>
            <a:pPr marL="36900" indent="0">
              <a:buNone/>
            </a:pPr>
            <a:r>
              <a:rPr lang="tr-TR" b="1" i="1" dirty="0">
                <a:solidFill>
                  <a:schemeClr val="tx1"/>
                </a:solidFill>
              </a:rPr>
              <a:t>2) tarayıcı ayarlarını oluşturdum.</a:t>
            </a:r>
          </a:p>
        </p:txBody>
      </p:sp>
      <p:pic>
        <p:nvPicPr>
          <p:cNvPr id="5" name="Resim 4">
            <a:extLst>
              <a:ext uri="{FF2B5EF4-FFF2-40B4-BE49-F238E27FC236}">
                <a16:creationId xmlns:a16="http://schemas.microsoft.com/office/drawing/2014/main" id="{0579CB2E-4C5F-59C5-4131-7CB129182536}"/>
              </a:ext>
            </a:extLst>
          </p:cNvPr>
          <p:cNvPicPr>
            <a:picLocks noChangeAspect="1"/>
          </p:cNvPicPr>
          <p:nvPr/>
        </p:nvPicPr>
        <p:blipFill>
          <a:blip r:embed="rId2"/>
          <a:stretch>
            <a:fillRect/>
          </a:stretch>
        </p:blipFill>
        <p:spPr>
          <a:xfrm>
            <a:off x="598212" y="637653"/>
            <a:ext cx="5601482" cy="1200318"/>
          </a:xfrm>
          <a:prstGeom prst="rect">
            <a:avLst/>
          </a:prstGeom>
        </p:spPr>
      </p:pic>
      <p:sp>
        <p:nvSpPr>
          <p:cNvPr id="6" name="Metin kutusu 5">
            <a:extLst>
              <a:ext uri="{FF2B5EF4-FFF2-40B4-BE49-F238E27FC236}">
                <a16:creationId xmlns:a16="http://schemas.microsoft.com/office/drawing/2014/main" id="{297B15B1-E737-BF9C-7E7C-7718BA867547}"/>
              </a:ext>
            </a:extLst>
          </p:cNvPr>
          <p:cNvSpPr txBox="1"/>
          <p:nvPr/>
        </p:nvSpPr>
        <p:spPr>
          <a:xfrm>
            <a:off x="518614" y="2003645"/>
            <a:ext cx="3968685" cy="369332"/>
          </a:xfrm>
          <a:prstGeom prst="rect">
            <a:avLst/>
          </a:prstGeom>
          <a:noFill/>
        </p:spPr>
        <p:txBody>
          <a:bodyPr wrap="square" rtlCol="0">
            <a:spAutoFit/>
          </a:bodyPr>
          <a:lstStyle/>
          <a:p>
            <a:r>
              <a:rPr lang="tr-TR" b="1" i="1" dirty="0"/>
              <a:t>3)  OpenLibrary web sitesine gittim.</a:t>
            </a:r>
          </a:p>
        </p:txBody>
      </p:sp>
      <p:pic>
        <p:nvPicPr>
          <p:cNvPr id="10" name="Resim 9">
            <a:extLst>
              <a:ext uri="{FF2B5EF4-FFF2-40B4-BE49-F238E27FC236}">
                <a16:creationId xmlns:a16="http://schemas.microsoft.com/office/drawing/2014/main" id="{9CF75F55-0B1B-C945-AA48-7C26D341D81F}"/>
              </a:ext>
            </a:extLst>
          </p:cNvPr>
          <p:cNvPicPr>
            <a:picLocks noChangeAspect="1"/>
          </p:cNvPicPr>
          <p:nvPr/>
        </p:nvPicPr>
        <p:blipFill>
          <a:blip r:embed="rId3"/>
          <a:stretch>
            <a:fillRect/>
          </a:stretch>
        </p:blipFill>
        <p:spPr>
          <a:xfrm>
            <a:off x="622169" y="2542592"/>
            <a:ext cx="4525006" cy="628738"/>
          </a:xfrm>
          <a:prstGeom prst="rect">
            <a:avLst/>
          </a:prstGeom>
        </p:spPr>
      </p:pic>
      <p:sp>
        <p:nvSpPr>
          <p:cNvPr id="11" name="Metin kutusu 10">
            <a:extLst>
              <a:ext uri="{FF2B5EF4-FFF2-40B4-BE49-F238E27FC236}">
                <a16:creationId xmlns:a16="http://schemas.microsoft.com/office/drawing/2014/main" id="{CC536E18-DB4A-E147-3CA5-AAC014B00B8D}"/>
              </a:ext>
            </a:extLst>
          </p:cNvPr>
          <p:cNvSpPr txBox="1"/>
          <p:nvPr/>
        </p:nvSpPr>
        <p:spPr>
          <a:xfrm>
            <a:off x="518614" y="3361333"/>
            <a:ext cx="7456462" cy="369332"/>
          </a:xfrm>
          <a:prstGeom prst="rect">
            <a:avLst/>
          </a:prstGeom>
          <a:noFill/>
        </p:spPr>
        <p:txBody>
          <a:bodyPr wrap="square" rtlCol="0">
            <a:spAutoFit/>
          </a:bodyPr>
          <a:lstStyle/>
          <a:p>
            <a:r>
              <a:rPr lang="tr-TR" b="1" i="1" dirty="0"/>
              <a:t>4) Bu kısımda ise tüm Bilim Kurgu kitaplarına tıklama işlemleri ile ulaştım.</a:t>
            </a:r>
          </a:p>
        </p:txBody>
      </p:sp>
      <p:pic>
        <p:nvPicPr>
          <p:cNvPr id="13" name="Resim 12">
            <a:extLst>
              <a:ext uri="{FF2B5EF4-FFF2-40B4-BE49-F238E27FC236}">
                <a16:creationId xmlns:a16="http://schemas.microsoft.com/office/drawing/2014/main" id="{1AD1CDC2-D5C4-71F0-14F2-814CF5948CA9}"/>
              </a:ext>
            </a:extLst>
          </p:cNvPr>
          <p:cNvPicPr>
            <a:picLocks noChangeAspect="1"/>
          </p:cNvPicPr>
          <p:nvPr/>
        </p:nvPicPr>
        <p:blipFill>
          <a:blip r:embed="rId4"/>
          <a:stretch>
            <a:fillRect/>
          </a:stretch>
        </p:blipFill>
        <p:spPr>
          <a:xfrm>
            <a:off x="494518" y="3920668"/>
            <a:ext cx="11161336" cy="2392807"/>
          </a:xfrm>
          <a:prstGeom prst="rect">
            <a:avLst/>
          </a:prstGeom>
        </p:spPr>
      </p:pic>
    </p:spTree>
    <p:extLst>
      <p:ext uri="{BB962C8B-B14F-4D97-AF65-F5344CB8AC3E}">
        <p14:creationId xmlns:p14="http://schemas.microsoft.com/office/powerpoint/2010/main" val="2854650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635EFAC-C082-35CF-D731-2E66ADABE084}"/>
              </a:ext>
            </a:extLst>
          </p:cNvPr>
          <p:cNvSpPr>
            <a:spLocks noGrp="1"/>
          </p:cNvSpPr>
          <p:nvPr>
            <p:ph idx="1"/>
          </p:nvPr>
        </p:nvSpPr>
        <p:spPr>
          <a:xfrm>
            <a:off x="192491" y="277690"/>
            <a:ext cx="10002443" cy="529983"/>
          </a:xfrm>
        </p:spPr>
        <p:txBody>
          <a:bodyPr>
            <a:noAutofit/>
          </a:bodyPr>
          <a:lstStyle/>
          <a:p>
            <a:pPr marL="36900" indent="0">
              <a:buNone/>
            </a:pPr>
            <a:r>
              <a:rPr lang="tr-TR" sz="1800" b="1" i="1" dirty="0"/>
              <a:t>5)Çekilen verileri saklamak amacıyla bir liste oluşturdum ve toplam 55 sayfa boyunca veri çekmesi için döngü oluşturdum.</a:t>
            </a:r>
          </a:p>
        </p:txBody>
      </p:sp>
      <p:pic>
        <p:nvPicPr>
          <p:cNvPr id="5" name="Resim 4">
            <a:extLst>
              <a:ext uri="{FF2B5EF4-FFF2-40B4-BE49-F238E27FC236}">
                <a16:creationId xmlns:a16="http://schemas.microsoft.com/office/drawing/2014/main" id="{FA7B07D2-C2B9-4E7D-B675-66A66FC2A0EF}"/>
              </a:ext>
            </a:extLst>
          </p:cNvPr>
          <p:cNvPicPr>
            <a:picLocks noChangeAspect="1"/>
          </p:cNvPicPr>
          <p:nvPr/>
        </p:nvPicPr>
        <p:blipFill>
          <a:blip r:embed="rId2"/>
          <a:stretch>
            <a:fillRect/>
          </a:stretch>
        </p:blipFill>
        <p:spPr>
          <a:xfrm>
            <a:off x="374001" y="982266"/>
            <a:ext cx="2924583" cy="1190791"/>
          </a:xfrm>
          <a:prstGeom prst="rect">
            <a:avLst/>
          </a:prstGeom>
        </p:spPr>
      </p:pic>
      <p:pic>
        <p:nvPicPr>
          <p:cNvPr id="4" name="Resim 3">
            <a:extLst>
              <a:ext uri="{FF2B5EF4-FFF2-40B4-BE49-F238E27FC236}">
                <a16:creationId xmlns:a16="http://schemas.microsoft.com/office/drawing/2014/main" id="{6EFDE2D3-DCB9-790A-BA4B-281FBAE50964}"/>
              </a:ext>
            </a:extLst>
          </p:cNvPr>
          <p:cNvPicPr>
            <a:picLocks noChangeAspect="1"/>
          </p:cNvPicPr>
          <p:nvPr/>
        </p:nvPicPr>
        <p:blipFill>
          <a:blip r:embed="rId3"/>
          <a:stretch>
            <a:fillRect/>
          </a:stretch>
        </p:blipFill>
        <p:spPr>
          <a:xfrm>
            <a:off x="105455" y="2743303"/>
            <a:ext cx="11270469" cy="3794272"/>
          </a:xfrm>
          <a:prstGeom prst="rect">
            <a:avLst/>
          </a:prstGeom>
        </p:spPr>
      </p:pic>
      <p:sp>
        <p:nvSpPr>
          <p:cNvPr id="6" name="Metin kutusu 5">
            <a:extLst>
              <a:ext uri="{FF2B5EF4-FFF2-40B4-BE49-F238E27FC236}">
                <a16:creationId xmlns:a16="http://schemas.microsoft.com/office/drawing/2014/main" id="{5E5FCDA4-8E18-6412-62D2-0DA148A2A4A0}"/>
              </a:ext>
            </a:extLst>
          </p:cNvPr>
          <p:cNvSpPr txBox="1"/>
          <p:nvPr/>
        </p:nvSpPr>
        <p:spPr>
          <a:xfrm>
            <a:off x="192490" y="2273514"/>
            <a:ext cx="6513109" cy="369332"/>
          </a:xfrm>
          <a:prstGeom prst="rect">
            <a:avLst/>
          </a:prstGeom>
          <a:noFill/>
        </p:spPr>
        <p:txBody>
          <a:bodyPr wrap="square" rtlCol="0">
            <a:spAutoFit/>
          </a:bodyPr>
          <a:lstStyle/>
          <a:p>
            <a:r>
              <a:rPr lang="tr-TR" b="1" i="1" dirty="0"/>
              <a:t>6)Her sayfada kitap listesini buluyor ve istediğim bilgileri alıyor</a:t>
            </a:r>
            <a:r>
              <a:rPr lang="tr-TR" dirty="0"/>
              <a:t>.</a:t>
            </a:r>
          </a:p>
        </p:txBody>
      </p:sp>
    </p:spTree>
    <p:extLst>
      <p:ext uri="{BB962C8B-B14F-4D97-AF65-F5344CB8AC3E}">
        <p14:creationId xmlns:p14="http://schemas.microsoft.com/office/powerpoint/2010/main" val="1693154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84815645-E5CC-FCB2-98D7-4B03BC534AA0}"/>
              </a:ext>
            </a:extLst>
          </p:cNvPr>
          <p:cNvPicPr>
            <a:picLocks noChangeAspect="1"/>
          </p:cNvPicPr>
          <p:nvPr/>
        </p:nvPicPr>
        <p:blipFill>
          <a:blip r:embed="rId2"/>
          <a:stretch>
            <a:fillRect/>
          </a:stretch>
        </p:blipFill>
        <p:spPr>
          <a:xfrm>
            <a:off x="432619" y="484228"/>
            <a:ext cx="10677832" cy="5889543"/>
          </a:xfrm>
          <a:prstGeom prst="rect">
            <a:avLst/>
          </a:prstGeom>
        </p:spPr>
      </p:pic>
    </p:spTree>
    <p:extLst>
      <p:ext uri="{BB962C8B-B14F-4D97-AF65-F5344CB8AC3E}">
        <p14:creationId xmlns:p14="http://schemas.microsoft.com/office/powerpoint/2010/main" val="1072606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A6B5357-3037-275A-059A-82F231899A1F}"/>
              </a:ext>
            </a:extLst>
          </p:cNvPr>
          <p:cNvSpPr>
            <a:spLocks noGrp="1"/>
          </p:cNvSpPr>
          <p:nvPr>
            <p:ph idx="1"/>
          </p:nvPr>
        </p:nvSpPr>
        <p:spPr>
          <a:xfrm>
            <a:off x="274698" y="464088"/>
            <a:ext cx="10353762" cy="489641"/>
          </a:xfrm>
        </p:spPr>
        <p:txBody>
          <a:bodyPr/>
          <a:lstStyle/>
          <a:p>
            <a:pPr marL="36900" indent="0">
              <a:buNone/>
            </a:pPr>
            <a:r>
              <a:rPr lang="tr-TR" b="1" i="1" dirty="0"/>
              <a:t>7)Bulduğum verileri kitap verileri listeme eklemesini istiyorum.</a:t>
            </a:r>
          </a:p>
        </p:txBody>
      </p:sp>
      <p:pic>
        <p:nvPicPr>
          <p:cNvPr id="5" name="Resim 4">
            <a:extLst>
              <a:ext uri="{FF2B5EF4-FFF2-40B4-BE49-F238E27FC236}">
                <a16:creationId xmlns:a16="http://schemas.microsoft.com/office/drawing/2014/main" id="{B662892B-D8E4-341D-10E0-28DEF6707431}"/>
              </a:ext>
            </a:extLst>
          </p:cNvPr>
          <p:cNvPicPr>
            <a:picLocks noChangeAspect="1"/>
          </p:cNvPicPr>
          <p:nvPr/>
        </p:nvPicPr>
        <p:blipFill>
          <a:blip r:embed="rId2"/>
          <a:stretch>
            <a:fillRect/>
          </a:stretch>
        </p:blipFill>
        <p:spPr>
          <a:xfrm>
            <a:off x="438398" y="1096093"/>
            <a:ext cx="8754764" cy="4076107"/>
          </a:xfrm>
          <a:prstGeom prst="rect">
            <a:avLst/>
          </a:prstGeom>
        </p:spPr>
      </p:pic>
    </p:spTree>
    <p:extLst>
      <p:ext uri="{BB962C8B-B14F-4D97-AF65-F5344CB8AC3E}">
        <p14:creationId xmlns:p14="http://schemas.microsoft.com/office/powerpoint/2010/main" val="1729940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85DD7DD-2B6C-D6E9-FEF4-D040C0925B2B}"/>
              </a:ext>
            </a:extLst>
          </p:cNvPr>
          <p:cNvSpPr>
            <a:spLocks noGrp="1"/>
          </p:cNvSpPr>
          <p:nvPr>
            <p:ph idx="1"/>
          </p:nvPr>
        </p:nvSpPr>
        <p:spPr>
          <a:xfrm>
            <a:off x="151176" y="300600"/>
            <a:ext cx="10353762" cy="478079"/>
          </a:xfrm>
        </p:spPr>
        <p:txBody>
          <a:bodyPr/>
          <a:lstStyle/>
          <a:p>
            <a:pPr marL="36900" indent="0">
              <a:buNone/>
            </a:pPr>
            <a:r>
              <a:rPr lang="tr-TR" b="1" i="1" dirty="0"/>
              <a:t>8)Sayfalar arası için kullandığım kod kısmı:</a:t>
            </a:r>
          </a:p>
        </p:txBody>
      </p:sp>
      <p:pic>
        <p:nvPicPr>
          <p:cNvPr id="5" name="Resim 4">
            <a:extLst>
              <a:ext uri="{FF2B5EF4-FFF2-40B4-BE49-F238E27FC236}">
                <a16:creationId xmlns:a16="http://schemas.microsoft.com/office/drawing/2014/main" id="{EA80485F-C955-87F8-8968-EA14047F4A28}"/>
              </a:ext>
            </a:extLst>
          </p:cNvPr>
          <p:cNvPicPr>
            <a:picLocks noChangeAspect="1"/>
          </p:cNvPicPr>
          <p:nvPr/>
        </p:nvPicPr>
        <p:blipFill>
          <a:blip r:embed="rId2"/>
          <a:stretch>
            <a:fillRect/>
          </a:stretch>
        </p:blipFill>
        <p:spPr>
          <a:xfrm>
            <a:off x="151175" y="870279"/>
            <a:ext cx="10040751" cy="3142812"/>
          </a:xfrm>
          <a:prstGeom prst="rect">
            <a:avLst/>
          </a:prstGeom>
        </p:spPr>
      </p:pic>
      <p:pic>
        <p:nvPicPr>
          <p:cNvPr id="7" name="Resim 6">
            <a:extLst>
              <a:ext uri="{FF2B5EF4-FFF2-40B4-BE49-F238E27FC236}">
                <a16:creationId xmlns:a16="http://schemas.microsoft.com/office/drawing/2014/main" id="{0F30FFE6-5960-5FE2-D0E3-C4E9B7F57BE5}"/>
              </a:ext>
            </a:extLst>
          </p:cNvPr>
          <p:cNvPicPr>
            <a:picLocks noChangeAspect="1"/>
          </p:cNvPicPr>
          <p:nvPr/>
        </p:nvPicPr>
        <p:blipFill>
          <a:blip r:embed="rId3"/>
          <a:stretch>
            <a:fillRect/>
          </a:stretch>
        </p:blipFill>
        <p:spPr>
          <a:xfrm>
            <a:off x="274699" y="4545662"/>
            <a:ext cx="6528036" cy="2312338"/>
          </a:xfrm>
          <a:prstGeom prst="rect">
            <a:avLst/>
          </a:prstGeom>
        </p:spPr>
      </p:pic>
      <p:sp>
        <p:nvSpPr>
          <p:cNvPr id="8" name="Metin kutusu 7">
            <a:extLst>
              <a:ext uri="{FF2B5EF4-FFF2-40B4-BE49-F238E27FC236}">
                <a16:creationId xmlns:a16="http://schemas.microsoft.com/office/drawing/2014/main" id="{72CD2FE7-AFA7-0E37-D162-BBD6C34419BD}"/>
              </a:ext>
            </a:extLst>
          </p:cNvPr>
          <p:cNvSpPr txBox="1"/>
          <p:nvPr/>
        </p:nvSpPr>
        <p:spPr>
          <a:xfrm>
            <a:off x="265254" y="4152939"/>
            <a:ext cx="4906297" cy="369332"/>
          </a:xfrm>
          <a:prstGeom prst="rect">
            <a:avLst/>
          </a:prstGeom>
          <a:noFill/>
        </p:spPr>
        <p:txBody>
          <a:bodyPr wrap="square" rtlCol="0">
            <a:spAutoFit/>
          </a:bodyPr>
          <a:lstStyle/>
          <a:p>
            <a:r>
              <a:rPr lang="tr-TR" b="1" i="1" dirty="0"/>
              <a:t>9)Son olarak verileri CSV dosyasına kaydettim.</a:t>
            </a:r>
          </a:p>
        </p:txBody>
      </p:sp>
    </p:spTree>
    <p:extLst>
      <p:ext uri="{BB962C8B-B14F-4D97-AF65-F5344CB8AC3E}">
        <p14:creationId xmlns:p14="http://schemas.microsoft.com/office/powerpoint/2010/main" val="1271597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3100FE7-6B6E-D676-84CF-DB928D0D1AB7}"/>
              </a:ext>
            </a:extLst>
          </p:cNvPr>
          <p:cNvSpPr>
            <a:spLocks noGrp="1"/>
          </p:cNvSpPr>
          <p:nvPr>
            <p:ph type="title"/>
          </p:nvPr>
        </p:nvSpPr>
        <p:spPr/>
        <p:txBody>
          <a:bodyPr/>
          <a:lstStyle/>
          <a:p>
            <a:r>
              <a:rPr lang="tr-TR" dirty="0">
                <a:solidFill>
                  <a:srgbClr val="00B050"/>
                </a:solidFill>
              </a:rPr>
              <a:t>Peki CSV Dosyası Nasıl Görünüyor ?</a:t>
            </a:r>
          </a:p>
        </p:txBody>
      </p:sp>
      <p:sp>
        <p:nvSpPr>
          <p:cNvPr id="3" name="İçerik Yer Tutucusu 2">
            <a:extLst>
              <a:ext uri="{FF2B5EF4-FFF2-40B4-BE49-F238E27FC236}">
                <a16:creationId xmlns:a16="http://schemas.microsoft.com/office/drawing/2014/main" id="{A36EA4F7-5AB7-FB32-2FF6-9C2A466D2F04}"/>
              </a:ext>
            </a:extLst>
          </p:cNvPr>
          <p:cNvSpPr>
            <a:spLocks noGrp="1"/>
          </p:cNvSpPr>
          <p:nvPr>
            <p:ph idx="1"/>
          </p:nvPr>
        </p:nvSpPr>
        <p:spPr>
          <a:xfrm>
            <a:off x="913795" y="1732449"/>
            <a:ext cx="10353762" cy="1128737"/>
          </a:xfrm>
        </p:spPr>
        <p:txBody>
          <a:bodyPr>
            <a:normAutofit/>
          </a:bodyPr>
          <a:lstStyle/>
          <a:p>
            <a:pPr marL="36900" indent="0">
              <a:buNone/>
            </a:pPr>
            <a:r>
              <a:rPr lang="tr-TR" b="1" i="1" dirty="0"/>
              <a:t>İlk 5 kitaba bakalım. Göründüğü üzere istediğim verilerin ne olduğu yazıyor.</a:t>
            </a:r>
          </a:p>
          <a:p>
            <a:pPr marL="36900" indent="0">
              <a:buNone/>
            </a:pPr>
            <a:r>
              <a:rPr lang="tr-TR" b="1" i="1" dirty="0"/>
              <a:t>İstediğim verilerin değerleri ise aşağıdaki gibidir. </a:t>
            </a:r>
          </a:p>
          <a:p>
            <a:pPr marL="36900" indent="0">
              <a:buNone/>
            </a:pPr>
            <a:endParaRPr lang="tr-TR" dirty="0"/>
          </a:p>
        </p:txBody>
      </p:sp>
      <p:pic>
        <p:nvPicPr>
          <p:cNvPr id="5" name="Resim 4">
            <a:extLst>
              <a:ext uri="{FF2B5EF4-FFF2-40B4-BE49-F238E27FC236}">
                <a16:creationId xmlns:a16="http://schemas.microsoft.com/office/drawing/2014/main" id="{53B6BB54-E273-07C4-E422-314494420430}"/>
              </a:ext>
            </a:extLst>
          </p:cNvPr>
          <p:cNvPicPr>
            <a:picLocks noChangeAspect="1"/>
          </p:cNvPicPr>
          <p:nvPr/>
        </p:nvPicPr>
        <p:blipFill>
          <a:blip r:embed="rId2"/>
          <a:stretch>
            <a:fillRect/>
          </a:stretch>
        </p:blipFill>
        <p:spPr>
          <a:xfrm>
            <a:off x="381837" y="3390259"/>
            <a:ext cx="11706330" cy="1849660"/>
          </a:xfrm>
          <a:prstGeom prst="rect">
            <a:avLst/>
          </a:prstGeom>
        </p:spPr>
      </p:pic>
    </p:spTree>
    <p:extLst>
      <p:ext uri="{BB962C8B-B14F-4D97-AF65-F5344CB8AC3E}">
        <p14:creationId xmlns:p14="http://schemas.microsoft.com/office/powerpoint/2010/main" val="3732743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8E67E92-CD27-F08C-A1D5-F3F43D4B8269}"/>
              </a:ext>
            </a:extLst>
          </p:cNvPr>
          <p:cNvSpPr>
            <a:spLocks noGrp="1"/>
          </p:cNvSpPr>
          <p:nvPr>
            <p:ph type="title"/>
          </p:nvPr>
        </p:nvSpPr>
        <p:spPr>
          <a:xfrm>
            <a:off x="835137" y="412955"/>
            <a:ext cx="10353762" cy="970450"/>
          </a:xfrm>
        </p:spPr>
        <p:txBody>
          <a:bodyPr/>
          <a:lstStyle/>
          <a:p>
            <a:r>
              <a:rPr lang="tr-TR" b="1" u="sng" dirty="0">
                <a:solidFill>
                  <a:srgbClr val="FF0000"/>
                </a:solidFill>
              </a:rPr>
              <a:t>Çekilen Verilere Göre Grafik Oluşturma</a:t>
            </a:r>
          </a:p>
        </p:txBody>
      </p:sp>
      <p:graphicFrame>
        <p:nvGraphicFramePr>
          <p:cNvPr id="4" name="İçerik Yer Tutucusu 3">
            <a:extLst>
              <a:ext uri="{FF2B5EF4-FFF2-40B4-BE49-F238E27FC236}">
                <a16:creationId xmlns:a16="http://schemas.microsoft.com/office/drawing/2014/main" id="{1E04D3F1-53F8-A66C-7BAD-DBEC29B57EA5}"/>
              </a:ext>
            </a:extLst>
          </p:cNvPr>
          <p:cNvGraphicFramePr>
            <a:graphicFrameLocks noGrp="1"/>
          </p:cNvGraphicFramePr>
          <p:nvPr>
            <p:ph idx="1"/>
            <p:extLst>
              <p:ext uri="{D42A27DB-BD31-4B8C-83A1-F6EECF244321}">
                <p14:modId xmlns:p14="http://schemas.microsoft.com/office/powerpoint/2010/main" val="3663883270"/>
              </p:ext>
            </p:extLst>
          </p:nvPr>
        </p:nvGraphicFramePr>
        <p:xfrm>
          <a:off x="913795" y="1732449"/>
          <a:ext cx="10353762" cy="45159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1983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57A0F93-AF25-B0C8-E7BB-52CA3905AB78}"/>
              </a:ext>
            </a:extLst>
          </p:cNvPr>
          <p:cNvSpPr>
            <a:spLocks noGrp="1"/>
          </p:cNvSpPr>
          <p:nvPr>
            <p:ph type="title"/>
          </p:nvPr>
        </p:nvSpPr>
        <p:spPr>
          <a:xfrm>
            <a:off x="919119" y="158788"/>
            <a:ext cx="10353762" cy="637625"/>
          </a:xfrm>
        </p:spPr>
        <p:txBody>
          <a:bodyPr>
            <a:normAutofit fontScale="90000"/>
          </a:bodyPr>
          <a:lstStyle/>
          <a:p>
            <a:r>
              <a:rPr lang="tr-TR" b="1" i="1" dirty="0">
                <a:solidFill>
                  <a:srgbClr val="C00000"/>
                </a:solidFill>
              </a:rPr>
              <a:t>Tanımlayıcı İstatistikler</a:t>
            </a:r>
          </a:p>
        </p:txBody>
      </p:sp>
      <p:sp>
        <p:nvSpPr>
          <p:cNvPr id="3" name="İçerik Yer Tutucusu 2">
            <a:extLst>
              <a:ext uri="{FF2B5EF4-FFF2-40B4-BE49-F238E27FC236}">
                <a16:creationId xmlns:a16="http://schemas.microsoft.com/office/drawing/2014/main" id="{E7AB1A9D-EBBE-15FA-8630-3C87CDED9E0F}"/>
              </a:ext>
            </a:extLst>
          </p:cNvPr>
          <p:cNvSpPr>
            <a:spLocks noGrp="1"/>
          </p:cNvSpPr>
          <p:nvPr>
            <p:ph idx="1"/>
          </p:nvPr>
        </p:nvSpPr>
        <p:spPr>
          <a:xfrm>
            <a:off x="913795" y="796414"/>
            <a:ext cx="10353762" cy="5102942"/>
          </a:xfrm>
        </p:spPr>
        <p:txBody>
          <a:bodyPr>
            <a:normAutofit fontScale="85000" lnSpcReduction="10000"/>
          </a:bodyPr>
          <a:lstStyle/>
          <a:p>
            <a:pPr marL="36900" indent="0">
              <a:buNone/>
            </a:pPr>
            <a:r>
              <a:rPr lang="tr-TR" b="1" dirty="0"/>
              <a:t>Tanımlayıcı İstatistikler</a:t>
            </a:r>
            <a:r>
              <a:rPr lang="tr-TR" dirty="0"/>
              <a:t>, bir veri setinin temel özelliklerini özetlemek ve veriyi daha iyi anlamak için kullanılan istatistiksel ölçütlerdir. Bu ölçütler, verinin merkezi eğilimini, yayılımını ve dağılımını ifade eder.</a:t>
            </a:r>
          </a:p>
          <a:p>
            <a:pPr marL="36900" indent="0">
              <a:buNone/>
            </a:pPr>
            <a:endParaRPr lang="tr-TR" dirty="0"/>
          </a:p>
          <a:p>
            <a:pPr marL="36900" indent="0">
              <a:buNone/>
            </a:pPr>
            <a:r>
              <a:rPr lang="tr-TR" b="1" dirty="0"/>
              <a:t>Ortalama (Mean):</a:t>
            </a:r>
            <a:r>
              <a:rPr lang="tr-TR" dirty="0"/>
              <a:t>Verilerin toplamının, veri sayısına bölünmesiyle elde edilir.</a:t>
            </a:r>
          </a:p>
          <a:p>
            <a:pPr marL="36900" indent="0">
              <a:buNone/>
            </a:pPr>
            <a:endParaRPr lang="tr-TR" dirty="0"/>
          </a:p>
          <a:p>
            <a:pPr marL="36900" indent="0">
              <a:buNone/>
            </a:pPr>
            <a:r>
              <a:rPr lang="tr-TR" b="1" dirty="0"/>
              <a:t>Medyan (Median):</a:t>
            </a:r>
            <a:r>
              <a:rPr lang="tr-TR" dirty="0"/>
              <a:t>Veriler sıralandıktan sonra ortadaki değerdir. Veri sayısı çiftse, ortadaki iki sayının ortalaması alınır.</a:t>
            </a:r>
          </a:p>
          <a:p>
            <a:pPr marL="36900" indent="0">
              <a:buNone/>
            </a:pPr>
            <a:endParaRPr lang="tr-TR" dirty="0"/>
          </a:p>
          <a:p>
            <a:pPr marL="36900" indent="0">
              <a:buNone/>
            </a:pPr>
            <a:r>
              <a:rPr lang="tr-TR" b="1" dirty="0"/>
              <a:t>Mod (Mode):</a:t>
            </a:r>
            <a:r>
              <a:rPr lang="tr-TR" dirty="0"/>
              <a:t>Veriler arasında en sık tekrar eden değerdir.</a:t>
            </a:r>
          </a:p>
          <a:p>
            <a:pPr marL="36900" indent="0">
              <a:buNone/>
            </a:pPr>
            <a:endParaRPr lang="tr-TR" dirty="0"/>
          </a:p>
          <a:p>
            <a:pPr marL="36900" indent="0">
              <a:buNone/>
            </a:pPr>
            <a:r>
              <a:rPr lang="tr-TR" b="1" dirty="0"/>
              <a:t>Standart Sapma (Standard Deviation):</a:t>
            </a:r>
            <a:r>
              <a:rPr lang="tr-TR" dirty="0"/>
              <a:t>Verilerin ortalamaya ne kadar uzaklaştığını ölçer. Veriler ortalamaya ne kadar yakınsa standart sapma o kadar küçük olur.</a:t>
            </a:r>
          </a:p>
          <a:p>
            <a:pPr marL="36900" indent="0">
              <a:buNone/>
            </a:pPr>
            <a:endParaRPr lang="tr-TR" dirty="0"/>
          </a:p>
          <a:p>
            <a:pPr marL="36900" indent="0">
              <a:buNone/>
            </a:pPr>
            <a:r>
              <a:rPr lang="tr-TR" b="1" dirty="0"/>
              <a:t>Varyans (Variance):</a:t>
            </a:r>
            <a:r>
              <a:rPr lang="tr-TR" dirty="0"/>
              <a:t>Verilerin ortalamaya uzaklıklarının karelerinin ortalamasıdır. Standart sapmanın karesi olarak da düşünülebilir.</a:t>
            </a:r>
          </a:p>
          <a:p>
            <a:pPr marL="36900" indent="0">
              <a:buNone/>
            </a:pPr>
            <a:endParaRPr lang="tr-TR" dirty="0"/>
          </a:p>
          <a:p>
            <a:pPr marL="36900" indent="0">
              <a:buNone/>
            </a:pPr>
            <a:endParaRPr lang="tr-TR" dirty="0"/>
          </a:p>
          <a:p>
            <a:pPr marL="36900" indent="0">
              <a:buNone/>
            </a:pPr>
            <a:endParaRPr lang="tr-TR" dirty="0"/>
          </a:p>
          <a:p>
            <a:pPr marL="36900" indent="0">
              <a:buNone/>
            </a:pPr>
            <a:endParaRPr lang="tr-TR" dirty="0"/>
          </a:p>
          <a:p>
            <a:pPr>
              <a:buFont typeface="Arial" panose="020B0604020202020204" pitchFamily="34" charset="0"/>
              <a:buChar char="•"/>
            </a:pPr>
            <a:endParaRPr lang="tr-TR" dirty="0"/>
          </a:p>
          <a:p>
            <a:pPr marL="36900" indent="0">
              <a:buNone/>
            </a:pPr>
            <a:endParaRPr lang="tr-TR" dirty="0"/>
          </a:p>
        </p:txBody>
      </p:sp>
    </p:spTree>
    <p:extLst>
      <p:ext uri="{BB962C8B-B14F-4D97-AF65-F5344CB8AC3E}">
        <p14:creationId xmlns:p14="http://schemas.microsoft.com/office/powerpoint/2010/main" val="3190635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CA8CD52-9340-4DAA-AED8-40559A9A8DE1}"/>
              </a:ext>
            </a:extLst>
          </p:cNvPr>
          <p:cNvSpPr>
            <a:spLocks noGrp="1"/>
          </p:cNvSpPr>
          <p:nvPr>
            <p:ph idx="1"/>
          </p:nvPr>
        </p:nvSpPr>
        <p:spPr>
          <a:xfrm>
            <a:off x="314028" y="434591"/>
            <a:ext cx="10353762" cy="440480"/>
          </a:xfrm>
        </p:spPr>
        <p:txBody>
          <a:bodyPr/>
          <a:lstStyle/>
          <a:p>
            <a:pPr marL="36900" indent="0">
              <a:buNone/>
            </a:pPr>
            <a:r>
              <a:rPr lang="tr-TR" b="1" i="1" dirty="0"/>
              <a:t>1) Öncelikle kütüphaneleri içe aktarıyorum.</a:t>
            </a:r>
          </a:p>
        </p:txBody>
      </p:sp>
      <p:pic>
        <p:nvPicPr>
          <p:cNvPr id="6" name="Resim 5">
            <a:extLst>
              <a:ext uri="{FF2B5EF4-FFF2-40B4-BE49-F238E27FC236}">
                <a16:creationId xmlns:a16="http://schemas.microsoft.com/office/drawing/2014/main" id="{708890A4-5442-6C5F-3D7C-18B5A94D8230}"/>
              </a:ext>
            </a:extLst>
          </p:cNvPr>
          <p:cNvPicPr>
            <a:picLocks noChangeAspect="1"/>
          </p:cNvPicPr>
          <p:nvPr/>
        </p:nvPicPr>
        <p:blipFill>
          <a:blip r:embed="rId2"/>
          <a:stretch>
            <a:fillRect/>
          </a:stretch>
        </p:blipFill>
        <p:spPr>
          <a:xfrm>
            <a:off x="314028" y="1041215"/>
            <a:ext cx="4010585" cy="685896"/>
          </a:xfrm>
          <a:prstGeom prst="rect">
            <a:avLst/>
          </a:prstGeom>
        </p:spPr>
      </p:pic>
      <p:sp>
        <p:nvSpPr>
          <p:cNvPr id="13" name="Metin kutusu 12">
            <a:extLst>
              <a:ext uri="{FF2B5EF4-FFF2-40B4-BE49-F238E27FC236}">
                <a16:creationId xmlns:a16="http://schemas.microsoft.com/office/drawing/2014/main" id="{E2930ABF-5907-8E40-860F-3D2690FE8F35}"/>
              </a:ext>
            </a:extLst>
          </p:cNvPr>
          <p:cNvSpPr txBox="1"/>
          <p:nvPr/>
        </p:nvSpPr>
        <p:spPr>
          <a:xfrm>
            <a:off x="4572001" y="1034613"/>
            <a:ext cx="8436077" cy="58477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tr-TR" altLang="tr-TR" sz="1600" b="1" i="0" u="none" strike="noStrike" cap="none" normalizeH="0" baseline="0" dirty="0">
                <a:ln>
                  <a:noFill/>
                </a:ln>
                <a:solidFill>
                  <a:schemeClr val="tx1"/>
                </a:solidFill>
                <a:effectLst/>
                <a:latin typeface="Arial" panose="020B0604020202020204" pitchFamily="34" charset="0"/>
              </a:rPr>
              <a:t>Pandas</a:t>
            </a:r>
            <a:r>
              <a:rPr kumimoji="0" lang="tr-TR" altLang="tr-TR" sz="1600" b="0" i="0" u="none" strike="noStrike" cap="none" normalizeH="0" baseline="0" dirty="0">
                <a:ln>
                  <a:noFill/>
                </a:ln>
                <a:solidFill>
                  <a:schemeClr val="tx1"/>
                </a:solidFill>
                <a:effectLst/>
                <a:latin typeface="Arial" panose="020B0604020202020204" pitchFamily="34" charset="0"/>
              </a:rPr>
              <a:t>: Veri çerçevesi oluşturma ve analiz işlemleri için kullanılır.</a:t>
            </a:r>
          </a:p>
          <a:p>
            <a:pPr marL="0" marR="0" lvl="0" indent="0" algn="l" defTabSz="914400" rtl="0" eaLnBrk="0" fontAlgn="base" latinLnBrk="0" hangingPunct="0">
              <a:lnSpc>
                <a:spcPct val="100000"/>
              </a:lnSpc>
              <a:spcBef>
                <a:spcPct val="0"/>
              </a:spcBef>
              <a:spcAft>
                <a:spcPct val="0"/>
              </a:spcAft>
              <a:buClrTx/>
              <a:buSzTx/>
              <a:tabLst/>
            </a:pPr>
            <a:r>
              <a:rPr kumimoji="0" lang="tr-TR" altLang="tr-TR" sz="1600" b="1" i="0" u="none" strike="noStrike" cap="none" normalizeH="0" baseline="0" dirty="0">
                <a:ln>
                  <a:noFill/>
                </a:ln>
                <a:solidFill>
                  <a:schemeClr val="tx1"/>
                </a:solidFill>
                <a:effectLst/>
                <a:latin typeface="Arial" panose="020B0604020202020204" pitchFamily="34" charset="0"/>
              </a:rPr>
              <a:t>Matplotlib</a:t>
            </a:r>
            <a:r>
              <a:rPr kumimoji="0" lang="tr-TR" altLang="tr-TR" sz="1600" b="0" i="0" u="none" strike="noStrike" cap="none" normalizeH="0" baseline="0" dirty="0">
                <a:ln>
                  <a:noFill/>
                </a:ln>
                <a:solidFill>
                  <a:schemeClr val="tx1"/>
                </a:solidFill>
                <a:effectLst/>
                <a:latin typeface="Arial" panose="020B0604020202020204" pitchFamily="34" charset="0"/>
              </a:rPr>
              <a:t>: Veri görselleştirmek için histogramlar oluşturmak için kullanılır. </a:t>
            </a:r>
          </a:p>
        </p:txBody>
      </p:sp>
      <p:sp>
        <p:nvSpPr>
          <p:cNvPr id="14" name="Metin kutusu 13">
            <a:extLst>
              <a:ext uri="{FF2B5EF4-FFF2-40B4-BE49-F238E27FC236}">
                <a16:creationId xmlns:a16="http://schemas.microsoft.com/office/drawing/2014/main" id="{B3289A1E-7811-E40B-5160-CACFC1438B67}"/>
              </a:ext>
            </a:extLst>
          </p:cNvPr>
          <p:cNvSpPr txBox="1"/>
          <p:nvPr/>
        </p:nvSpPr>
        <p:spPr>
          <a:xfrm>
            <a:off x="314028" y="2043450"/>
            <a:ext cx="7630437" cy="369332"/>
          </a:xfrm>
          <a:prstGeom prst="rect">
            <a:avLst/>
          </a:prstGeom>
          <a:noFill/>
        </p:spPr>
        <p:txBody>
          <a:bodyPr wrap="square" rtlCol="0">
            <a:spAutoFit/>
          </a:bodyPr>
          <a:lstStyle/>
          <a:p>
            <a:r>
              <a:rPr lang="tr-TR" b="1" i="1" dirty="0"/>
              <a:t>2) Veri setini okuyor ve sütunda olabilecek gereksiz boşlukları siliyor.</a:t>
            </a:r>
          </a:p>
        </p:txBody>
      </p:sp>
      <p:pic>
        <p:nvPicPr>
          <p:cNvPr id="16" name="Resim 15">
            <a:extLst>
              <a:ext uri="{FF2B5EF4-FFF2-40B4-BE49-F238E27FC236}">
                <a16:creationId xmlns:a16="http://schemas.microsoft.com/office/drawing/2014/main" id="{B7AD9DBE-ECF2-F005-B79D-ACC26EDBC720}"/>
              </a:ext>
            </a:extLst>
          </p:cNvPr>
          <p:cNvPicPr>
            <a:picLocks noChangeAspect="1"/>
          </p:cNvPicPr>
          <p:nvPr/>
        </p:nvPicPr>
        <p:blipFill>
          <a:blip r:embed="rId3"/>
          <a:stretch>
            <a:fillRect/>
          </a:stretch>
        </p:blipFill>
        <p:spPr>
          <a:xfrm>
            <a:off x="314028" y="2580896"/>
            <a:ext cx="5506218" cy="1000265"/>
          </a:xfrm>
          <a:prstGeom prst="rect">
            <a:avLst/>
          </a:prstGeom>
        </p:spPr>
      </p:pic>
      <p:pic>
        <p:nvPicPr>
          <p:cNvPr id="18" name="Resim 17">
            <a:extLst>
              <a:ext uri="{FF2B5EF4-FFF2-40B4-BE49-F238E27FC236}">
                <a16:creationId xmlns:a16="http://schemas.microsoft.com/office/drawing/2014/main" id="{DD63393F-FB1A-4E79-2D27-B54B543D1D90}"/>
              </a:ext>
            </a:extLst>
          </p:cNvPr>
          <p:cNvPicPr>
            <a:picLocks noChangeAspect="1"/>
          </p:cNvPicPr>
          <p:nvPr/>
        </p:nvPicPr>
        <p:blipFill>
          <a:blip r:embed="rId4"/>
          <a:stretch>
            <a:fillRect/>
          </a:stretch>
        </p:blipFill>
        <p:spPr>
          <a:xfrm>
            <a:off x="219083" y="4690809"/>
            <a:ext cx="10888595" cy="1428949"/>
          </a:xfrm>
          <a:prstGeom prst="rect">
            <a:avLst/>
          </a:prstGeom>
        </p:spPr>
      </p:pic>
      <p:sp>
        <p:nvSpPr>
          <p:cNvPr id="19" name="Metin kutusu 18">
            <a:extLst>
              <a:ext uri="{FF2B5EF4-FFF2-40B4-BE49-F238E27FC236}">
                <a16:creationId xmlns:a16="http://schemas.microsoft.com/office/drawing/2014/main" id="{F55E8775-FC0B-4851-3E91-E4A18DBF00D3}"/>
              </a:ext>
            </a:extLst>
          </p:cNvPr>
          <p:cNvSpPr txBox="1"/>
          <p:nvPr/>
        </p:nvSpPr>
        <p:spPr>
          <a:xfrm>
            <a:off x="219083" y="3897415"/>
            <a:ext cx="8436077" cy="369332"/>
          </a:xfrm>
          <a:prstGeom prst="rect">
            <a:avLst/>
          </a:prstGeom>
          <a:noFill/>
        </p:spPr>
        <p:txBody>
          <a:bodyPr wrap="square" rtlCol="0">
            <a:spAutoFit/>
          </a:bodyPr>
          <a:lstStyle/>
          <a:p>
            <a:r>
              <a:rPr lang="tr-TR" b="1" i="1" dirty="0"/>
              <a:t>3) Belirtilen sütunlar sayısal değerlere dönüştürülür ve eksik-hatalı veriler silinir.</a:t>
            </a:r>
          </a:p>
        </p:txBody>
      </p:sp>
    </p:spTree>
    <p:extLst>
      <p:ext uri="{BB962C8B-B14F-4D97-AF65-F5344CB8AC3E}">
        <p14:creationId xmlns:p14="http://schemas.microsoft.com/office/powerpoint/2010/main" val="4291905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9F26B4A-3639-27EF-C16C-E9A3711F5E03}"/>
              </a:ext>
            </a:extLst>
          </p:cNvPr>
          <p:cNvSpPr>
            <a:spLocks noGrp="1"/>
          </p:cNvSpPr>
          <p:nvPr>
            <p:ph idx="1"/>
          </p:nvPr>
        </p:nvSpPr>
        <p:spPr>
          <a:xfrm>
            <a:off x="304195" y="346101"/>
            <a:ext cx="10353762" cy="646957"/>
          </a:xfrm>
        </p:spPr>
        <p:txBody>
          <a:bodyPr/>
          <a:lstStyle/>
          <a:p>
            <a:pPr marL="36900" indent="0">
              <a:buNone/>
            </a:pPr>
            <a:r>
              <a:rPr lang="tr-TR" b="1" i="1" dirty="0"/>
              <a:t>4) Tanımlayıcı istatistikler oluşturulup CSV dosyasına kaydettiriyorum.</a:t>
            </a:r>
          </a:p>
        </p:txBody>
      </p:sp>
      <p:pic>
        <p:nvPicPr>
          <p:cNvPr id="5" name="Resim 4">
            <a:extLst>
              <a:ext uri="{FF2B5EF4-FFF2-40B4-BE49-F238E27FC236}">
                <a16:creationId xmlns:a16="http://schemas.microsoft.com/office/drawing/2014/main" id="{618E4F8B-A354-D1F4-4960-AEF017DE24B5}"/>
              </a:ext>
            </a:extLst>
          </p:cNvPr>
          <p:cNvPicPr>
            <a:picLocks noChangeAspect="1"/>
          </p:cNvPicPr>
          <p:nvPr/>
        </p:nvPicPr>
        <p:blipFill>
          <a:blip r:embed="rId2"/>
          <a:stretch>
            <a:fillRect/>
          </a:stretch>
        </p:blipFill>
        <p:spPr>
          <a:xfrm>
            <a:off x="391755" y="816616"/>
            <a:ext cx="9469999" cy="4640287"/>
          </a:xfrm>
          <a:prstGeom prst="rect">
            <a:avLst/>
          </a:prstGeom>
        </p:spPr>
      </p:pic>
    </p:spTree>
    <p:extLst>
      <p:ext uri="{BB962C8B-B14F-4D97-AF65-F5344CB8AC3E}">
        <p14:creationId xmlns:p14="http://schemas.microsoft.com/office/powerpoint/2010/main" val="4176792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CF61DAB-1486-5CAD-2D1D-C725A282453F}"/>
              </a:ext>
            </a:extLst>
          </p:cNvPr>
          <p:cNvSpPr>
            <a:spLocks noGrp="1"/>
          </p:cNvSpPr>
          <p:nvPr>
            <p:ph idx="1"/>
          </p:nvPr>
        </p:nvSpPr>
        <p:spPr>
          <a:xfrm>
            <a:off x="500841" y="196646"/>
            <a:ext cx="10353762" cy="619431"/>
          </a:xfrm>
        </p:spPr>
        <p:txBody>
          <a:bodyPr/>
          <a:lstStyle/>
          <a:p>
            <a:pPr marL="36900" indent="0">
              <a:buNone/>
            </a:pPr>
            <a:r>
              <a:rPr lang="tr-TR" b="1" i="1" dirty="0"/>
              <a:t>5)Tanımlayıcı istatistikleri görselleştiriyoruz.</a:t>
            </a:r>
          </a:p>
        </p:txBody>
      </p:sp>
      <p:pic>
        <p:nvPicPr>
          <p:cNvPr id="5" name="Resim 4">
            <a:extLst>
              <a:ext uri="{FF2B5EF4-FFF2-40B4-BE49-F238E27FC236}">
                <a16:creationId xmlns:a16="http://schemas.microsoft.com/office/drawing/2014/main" id="{58C562B0-2740-D4E9-E794-2BBBB3F91D0D}"/>
              </a:ext>
            </a:extLst>
          </p:cNvPr>
          <p:cNvPicPr>
            <a:picLocks noChangeAspect="1"/>
          </p:cNvPicPr>
          <p:nvPr/>
        </p:nvPicPr>
        <p:blipFill>
          <a:blip r:embed="rId2"/>
          <a:stretch>
            <a:fillRect/>
          </a:stretch>
        </p:blipFill>
        <p:spPr>
          <a:xfrm>
            <a:off x="500841" y="924232"/>
            <a:ext cx="8830907" cy="3296110"/>
          </a:xfrm>
          <a:prstGeom prst="rect">
            <a:avLst/>
          </a:prstGeom>
        </p:spPr>
      </p:pic>
    </p:spTree>
    <p:extLst>
      <p:ext uri="{BB962C8B-B14F-4D97-AF65-F5344CB8AC3E}">
        <p14:creationId xmlns:p14="http://schemas.microsoft.com/office/powerpoint/2010/main" val="2302976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D0EA4D8-E4CD-0187-B334-E0FF2E8357D0}"/>
              </a:ext>
            </a:extLst>
          </p:cNvPr>
          <p:cNvSpPr>
            <a:spLocks noGrp="1"/>
          </p:cNvSpPr>
          <p:nvPr>
            <p:ph type="title"/>
          </p:nvPr>
        </p:nvSpPr>
        <p:spPr>
          <a:xfrm>
            <a:off x="913795" y="100484"/>
            <a:ext cx="10766928" cy="653142"/>
          </a:xfrm>
        </p:spPr>
        <p:txBody>
          <a:bodyPr>
            <a:normAutofit/>
          </a:bodyPr>
          <a:lstStyle/>
          <a:p>
            <a:r>
              <a:rPr lang="tr-TR" sz="2800" b="1" dirty="0">
                <a:solidFill>
                  <a:srgbClr val="00B050"/>
                </a:solidFill>
              </a:rPr>
              <a:t>Peki Kodu Çalıştırdığımızda Terminali Ve CSV Dosyası Nasıl ?</a:t>
            </a:r>
          </a:p>
        </p:txBody>
      </p:sp>
      <p:pic>
        <p:nvPicPr>
          <p:cNvPr id="5" name="Resim 4">
            <a:extLst>
              <a:ext uri="{FF2B5EF4-FFF2-40B4-BE49-F238E27FC236}">
                <a16:creationId xmlns:a16="http://schemas.microsoft.com/office/drawing/2014/main" id="{54224E9C-4AE3-4B0A-2E5E-6246DD8CA1FD}"/>
              </a:ext>
            </a:extLst>
          </p:cNvPr>
          <p:cNvPicPr>
            <a:picLocks noChangeAspect="1"/>
          </p:cNvPicPr>
          <p:nvPr/>
        </p:nvPicPr>
        <p:blipFill>
          <a:blip r:embed="rId2"/>
          <a:stretch>
            <a:fillRect/>
          </a:stretch>
        </p:blipFill>
        <p:spPr>
          <a:xfrm>
            <a:off x="398583" y="2954853"/>
            <a:ext cx="5138059" cy="3496827"/>
          </a:xfrm>
          <a:prstGeom prst="rect">
            <a:avLst/>
          </a:prstGeom>
        </p:spPr>
      </p:pic>
      <p:pic>
        <p:nvPicPr>
          <p:cNvPr id="7" name="Resim 6">
            <a:extLst>
              <a:ext uri="{FF2B5EF4-FFF2-40B4-BE49-F238E27FC236}">
                <a16:creationId xmlns:a16="http://schemas.microsoft.com/office/drawing/2014/main" id="{E4B22B14-5037-4CE5-2142-BA7CD673EAD5}"/>
              </a:ext>
            </a:extLst>
          </p:cNvPr>
          <p:cNvPicPr>
            <a:picLocks noChangeAspect="1"/>
          </p:cNvPicPr>
          <p:nvPr/>
        </p:nvPicPr>
        <p:blipFill>
          <a:blip r:embed="rId3"/>
          <a:stretch>
            <a:fillRect/>
          </a:stretch>
        </p:blipFill>
        <p:spPr>
          <a:xfrm>
            <a:off x="793215" y="984738"/>
            <a:ext cx="9821227" cy="1524213"/>
          </a:xfrm>
          <a:prstGeom prst="rect">
            <a:avLst/>
          </a:prstGeom>
        </p:spPr>
      </p:pic>
      <p:pic>
        <p:nvPicPr>
          <p:cNvPr id="9" name="Resim 8">
            <a:extLst>
              <a:ext uri="{FF2B5EF4-FFF2-40B4-BE49-F238E27FC236}">
                <a16:creationId xmlns:a16="http://schemas.microsoft.com/office/drawing/2014/main" id="{13441B98-5BE1-11AA-FFBD-DDFBA057857B}"/>
              </a:ext>
            </a:extLst>
          </p:cNvPr>
          <p:cNvPicPr>
            <a:picLocks noChangeAspect="1"/>
          </p:cNvPicPr>
          <p:nvPr/>
        </p:nvPicPr>
        <p:blipFill>
          <a:blip r:embed="rId4"/>
          <a:stretch>
            <a:fillRect/>
          </a:stretch>
        </p:blipFill>
        <p:spPr>
          <a:xfrm>
            <a:off x="6297259" y="2954853"/>
            <a:ext cx="5182205" cy="3364312"/>
          </a:xfrm>
          <a:prstGeom prst="rect">
            <a:avLst/>
          </a:prstGeom>
        </p:spPr>
      </p:pic>
    </p:spTree>
    <p:extLst>
      <p:ext uri="{BB962C8B-B14F-4D97-AF65-F5344CB8AC3E}">
        <p14:creationId xmlns:p14="http://schemas.microsoft.com/office/powerpoint/2010/main" val="2019367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AA0AA7D8-C875-EB60-9E95-B5D0C346B89E}"/>
              </a:ext>
            </a:extLst>
          </p:cNvPr>
          <p:cNvPicPr>
            <a:picLocks noChangeAspect="1"/>
          </p:cNvPicPr>
          <p:nvPr/>
        </p:nvPicPr>
        <p:blipFill>
          <a:blip r:embed="rId2"/>
          <a:stretch>
            <a:fillRect/>
          </a:stretch>
        </p:blipFill>
        <p:spPr>
          <a:xfrm>
            <a:off x="269291" y="1110816"/>
            <a:ext cx="5826709" cy="4636368"/>
          </a:xfrm>
          <a:prstGeom prst="rect">
            <a:avLst/>
          </a:prstGeom>
        </p:spPr>
      </p:pic>
      <p:pic>
        <p:nvPicPr>
          <p:cNvPr id="7" name="Resim 6">
            <a:extLst>
              <a:ext uri="{FF2B5EF4-FFF2-40B4-BE49-F238E27FC236}">
                <a16:creationId xmlns:a16="http://schemas.microsoft.com/office/drawing/2014/main" id="{43EBE840-E70E-E009-B064-2E916A9205CC}"/>
              </a:ext>
            </a:extLst>
          </p:cNvPr>
          <p:cNvPicPr>
            <a:picLocks noChangeAspect="1"/>
          </p:cNvPicPr>
          <p:nvPr/>
        </p:nvPicPr>
        <p:blipFill>
          <a:blip r:embed="rId3"/>
          <a:stretch>
            <a:fillRect/>
          </a:stretch>
        </p:blipFill>
        <p:spPr>
          <a:xfrm>
            <a:off x="6410633" y="1110816"/>
            <a:ext cx="5624054" cy="4636368"/>
          </a:xfrm>
          <a:prstGeom prst="rect">
            <a:avLst/>
          </a:prstGeom>
        </p:spPr>
      </p:pic>
    </p:spTree>
    <p:extLst>
      <p:ext uri="{BB962C8B-B14F-4D97-AF65-F5344CB8AC3E}">
        <p14:creationId xmlns:p14="http://schemas.microsoft.com/office/powerpoint/2010/main" val="58099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A0082AD-92F3-78CE-A446-89196089FA1A}"/>
              </a:ext>
            </a:extLst>
          </p:cNvPr>
          <p:cNvSpPr>
            <a:spLocks noGrp="1"/>
          </p:cNvSpPr>
          <p:nvPr>
            <p:ph type="title"/>
          </p:nvPr>
        </p:nvSpPr>
        <p:spPr>
          <a:xfrm>
            <a:off x="913795" y="235974"/>
            <a:ext cx="10353762" cy="830826"/>
          </a:xfrm>
        </p:spPr>
        <p:txBody>
          <a:bodyPr/>
          <a:lstStyle/>
          <a:p>
            <a:r>
              <a:rPr lang="tr-TR" b="1" i="1" dirty="0">
                <a:solidFill>
                  <a:srgbClr val="C00000"/>
                </a:solidFill>
              </a:rPr>
              <a:t>Görselleştirme</a:t>
            </a:r>
          </a:p>
        </p:txBody>
      </p:sp>
      <p:sp>
        <p:nvSpPr>
          <p:cNvPr id="3" name="İçerik Yer Tutucusu 2">
            <a:extLst>
              <a:ext uri="{FF2B5EF4-FFF2-40B4-BE49-F238E27FC236}">
                <a16:creationId xmlns:a16="http://schemas.microsoft.com/office/drawing/2014/main" id="{DE2DAE4D-AB52-8C1F-B2A5-61EA07692929}"/>
              </a:ext>
            </a:extLst>
          </p:cNvPr>
          <p:cNvSpPr>
            <a:spLocks noGrp="1"/>
          </p:cNvSpPr>
          <p:nvPr>
            <p:ph idx="1"/>
          </p:nvPr>
        </p:nvSpPr>
        <p:spPr>
          <a:xfrm>
            <a:off x="913795" y="1366684"/>
            <a:ext cx="10353762" cy="5255341"/>
          </a:xfrm>
        </p:spPr>
        <p:txBody>
          <a:bodyPr>
            <a:normAutofit/>
          </a:bodyPr>
          <a:lstStyle/>
          <a:p>
            <a:pPr marL="36900" indent="0">
              <a:buNone/>
            </a:pPr>
            <a:r>
              <a:rPr lang="tr-TR" b="1" dirty="0"/>
              <a:t>Görselleştirme, </a:t>
            </a:r>
            <a:r>
              <a:rPr lang="tr-TR" dirty="0"/>
              <a:t>veriyi daha iyi anlamak ve anlamlı bir şekilde sunmak için grafikler ve şekiller kullanmayı ifade eder.</a:t>
            </a:r>
          </a:p>
          <a:p>
            <a:pPr marL="36900" indent="0">
              <a:buNone/>
            </a:pPr>
            <a:endParaRPr lang="tr-TR" dirty="0"/>
          </a:p>
          <a:p>
            <a:pPr marL="36900" indent="0">
              <a:buNone/>
            </a:pPr>
            <a:r>
              <a:rPr lang="tr-TR" b="1" dirty="0"/>
              <a:t>Histogram, </a:t>
            </a:r>
            <a:r>
              <a:rPr lang="tr-TR" dirty="0"/>
              <a:t>veri dağılımını frekanslarla kaç kez tekrar ettiği gösteren bir grafiktir.</a:t>
            </a:r>
          </a:p>
          <a:p>
            <a:pPr marL="36900" indent="0">
              <a:buNone/>
            </a:pPr>
            <a:endParaRPr lang="tr-TR" dirty="0"/>
          </a:p>
          <a:p>
            <a:pPr marL="36900" indent="0">
              <a:buNone/>
            </a:pPr>
            <a:r>
              <a:rPr lang="tr-TR" b="1" dirty="0"/>
              <a:t>Kutu Grafiği (Box Plot),</a:t>
            </a:r>
            <a:r>
              <a:rPr lang="tr-TR" dirty="0"/>
              <a:t>Verinin çeyrek değerlerini, medyanını ve aykırı değerlerini gösteren bir grafik türüdür.</a:t>
            </a:r>
          </a:p>
          <a:p>
            <a:pPr marL="36900" indent="0">
              <a:buNone/>
            </a:pPr>
            <a:endParaRPr lang="tr-TR" dirty="0"/>
          </a:p>
          <a:p>
            <a:pPr marL="36900" indent="0">
              <a:buNone/>
            </a:pPr>
            <a:r>
              <a:rPr lang="tr-TR" b="1" dirty="0"/>
              <a:t>Scatter Plot (Dağılım Grafiği),</a:t>
            </a:r>
            <a:r>
              <a:rPr lang="tr-TR" dirty="0"/>
              <a:t>İki sayısal değişken arasındaki ilişkiyi göstermek için kullanılan bir grafiktir.</a:t>
            </a:r>
          </a:p>
          <a:p>
            <a:pPr marL="36900" indent="0">
              <a:buNone/>
            </a:pPr>
            <a:endParaRPr lang="tr-TR" dirty="0"/>
          </a:p>
          <a:p>
            <a:pPr marL="36900" indent="0">
              <a:buNone/>
            </a:pPr>
            <a:r>
              <a:rPr lang="tr-TR" b="1" dirty="0"/>
              <a:t>Bar Chart (Çubuk Grafiği),</a:t>
            </a:r>
            <a:r>
              <a:rPr lang="tr-TR" dirty="0"/>
              <a:t>Kategorik veya sayısal verilerin karşılaştırılmasını sağlayan bir grafiktir.</a:t>
            </a:r>
          </a:p>
          <a:p>
            <a:pPr marL="36900" indent="0">
              <a:buNone/>
            </a:pPr>
            <a:endParaRPr lang="tr-TR" dirty="0"/>
          </a:p>
          <a:p>
            <a:pPr marL="36900" indent="0">
              <a:buNone/>
            </a:pPr>
            <a:endParaRPr lang="tr-TR" dirty="0"/>
          </a:p>
          <a:p>
            <a:pPr marL="36900" indent="0">
              <a:buNone/>
            </a:pPr>
            <a:endParaRPr lang="tr-TR" dirty="0"/>
          </a:p>
          <a:p>
            <a:pPr marL="36900" indent="0">
              <a:buNone/>
            </a:pPr>
            <a:endParaRPr lang="tr-TR" dirty="0"/>
          </a:p>
          <a:p>
            <a:pPr marL="36900" indent="0">
              <a:buNone/>
            </a:pPr>
            <a:endParaRPr lang="tr-TR" dirty="0"/>
          </a:p>
          <a:p>
            <a:pPr marL="36900" indent="0">
              <a:buNone/>
            </a:pPr>
            <a:endParaRPr lang="tr-TR" dirty="0"/>
          </a:p>
          <a:p>
            <a:pPr marL="36900" indent="0">
              <a:buNone/>
            </a:pPr>
            <a:endParaRPr lang="tr-TR" dirty="0"/>
          </a:p>
        </p:txBody>
      </p:sp>
    </p:spTree>
    <p:extLst>
      <p:ext uri="{BB962C8B-B14F-4D97-AF65-F5344CB8AC3E}">
        <p14:creationId xmlns:p14="http://schemas.microsoft.com/office/powerpoint/2010/main" val="3972367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B9C13E0-DDF3-3D9E-9495-33867EF8180F}"/>
              </a:ext>
            </a:extLst>
          </p:cNvPr>
          <p:cNvSpPr>
            <a:spLocks noGrp="1"/>
          </p:cNvSpPr>
          <p:nvPr>
            <p:ph idx="1"/>
          </p:nvPr>
        </p:nvSpPr>
        <p:spPr>
          <a:xfrm>
            <a:off x="264866" y="365766"/>
            <a:ext cx="10353762" cy="676453"/>
          </a:xfrm>
        </p:spPr>
        <p:txBody>
          <a:bodyPr>
            <a:normAutofit lnSpcReduction="10000"/>
          </a:bodyPr>
          <a:lstStyle/>
          <a:p>
            <a:pPr marL="36900" indent="0">
              <a:buNone/>
            </a:pPr>
            <a:r>
              <a:rPr lang="tr-TR" b="1" i="1" dirty="0"/>
              <a:t>1) Öncelikle gerekli kütüphaneleri içe aktarıyoruz. Veri setini okuyup ve sütunlardaki gereksiz boşlukları siliyoruz.</a:t>
            </a:r>
          </a:p>
        </p:txBody>
      </p:sp>
      <p:pic>
        <p:nvPicPr>
          <p:cNvPr id="6" name="Resim 5">
            <a:extLst>
              <a:ext uri="{FF2B5EF4-FFF2-40B4-BE49-F238E27FC236}">
                <a16:creationId xmlns:a16="http://schemas.microsoft.com/office/drawing/2014/main" id="{DA903F2D-E858-BE91-0A26-04A8A22590A9}"/>
              </a:ext>
            </a:extLst>
          </p:cNvPr>
          <p:cNvPicPr>
            <a:picLocks noChangeAspect="1"/>
          </p:cNvPicPr>
          <p:nvPr/>
        </p:nvPicPr>
        <p:blipFill>
          <a:blip r:embed="rId2"/>
          <a:stretch>
            <a:fillRect/>
          </a:stretch>
        </p:blipFill>
        <p:spPr>
          <a:xfrm>
            <a:off x="344664" y="1042219"/>
            <a:ext cx="5544324" cy="1629002"/>
          </a:xfrm>
          <a:prstGeom prst="rect">
            <a:avLst/>
          </a:prstGeom>
        </p:spPr>
      </p:pic>
      <p:sp>
        <p:nvSpPr>
          <p:cNvPr id="7" name="Metin kutusu 6">
            <a:extLst>
              <a:ext uri="{FF2B5EF4-FFF2-40B4-BE49-F238E27FC236}">
                <a16:creationId xmlns:a16="http://schemas.microsoft.com/office/drawing/2014/main" id="{9DD33655-5EBC-AAD5-1A85-9A74741084B5}"/>
              </a:ext>
            </a:extLst>
          </p:cNvPr>
          <p:cNvSpPr txBox="1"/>
          <p:nvPr/>
        </p:nvSpPr>
        <p:spPr>
          <a:xfrm>
            <a:off x="344664" y="2967678"/>
            <a:ext cx="10019071" cy="369332"/>
          </a:xfrm>
          <a:prstGeom prst="rect">
            <a:avLst/>
          </a:prstGeom>
          <a:noFill/>
        </p:spPr>
        <p:txBody>
          <a:bodyPr wrap="square" rtlCol="0">
            <a:spAutoFit/>
          </a:bodyPr>
          <a:lstStyle/>
          <a:p>
            <a:r>
              <a:rPr lang="tr-TR" b="1" i="1" dirty="0"/>
              <a:t>2)Sayısal sütunları dönüştürüp, eksik verileri tamamladıktan sonra histogram grafiği oluşturuyoruz.</a:t>
            </a:r>
          </a:p>
        </p:txBody>
      </p:sp>
      <p:pic>
        <p:nvPicPr>
          <p:cNvPr id="11" name="Resim 10">
            <a:extLst>
              <a:ext uri="{FF2B5EF4-FFF2-40B4-BE49-F238E27FC236}">
                <a16:creationId xmlns:a16="http://schemas.microsoft.com/office/drawing/2014/main" id="{21243423-5A8B-0506-EDC8-06853F6EE167}"/>
              </a:ext>
            </a:extLst>
          </p:cNvPr>
          <p:cNvPicPr>
            <a:picLocks noChangeAspect="1"/>
          </p:cNvPicPr>
          <p:nvPr/>
        </p:nvPicPr>
        <p:blipFill>
          <a:blip r:embed="rId3"/>
          <a:stretch>
            <a:fillRect/>
          </a:stretch>
        </p:blipFill>
        <p:spPr>
          <a:xfrm>
            <a:off x="264866" y="3654795"/>
            <a:ext cx="11356863" cy="2844508"/>
          </a:xfrm>
          <a:prstGeom prst="rect">
            <a:avLst/>
          </a:prstGeom>
        </p:spPr>
      </p:pic>
    </p:spTree>
    <p:extLst>
      <p:ext uri="{BB962C8B-B14F-4D97-AF65-F5344CB8AC3E}">
        <p14:creationId xmlns:p14="http://schemas.microsoft.com/office/powerpoint/2010/main" val="2040602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86625E0-3FFC-B011-A433-3DE9866D98A8}"/>
              </a:ext>
            </a:extLst>
          </p:cNvPr>
          <p:cNvSpPr>
            <a:spLocks noGrp="1"/>
          </p:cNvSpPr>
          <p:nvPr>
            <p:ph idx="1"/>
          </p:nvPr>
        </p:nvSpPr>
        <p:spPr>
          <a:xfrm>
            <a:off x="382852" y="169121"/>
            <a:ext cx="10353762" cy="401150"/>
          </a:xfrm>
        </p:spPr>
        <p:txBody>
          <a:bodyPr>
            <a:normAutofit fontScale="92500"/>
          </a:bodyPr>
          <a:lstStyle/>
          <a:p>
            <a:pPr marL="36900" indent="0">
              <a:buNone/>
            </a:pPr>
            <a:r>
              <a:rPr lang="tr-TR" i="1" dirty="0"/>
              <a:t>3)Kutu grafiği ve ikili Scatter grafiklerini oluşturuyoruz. Ortalama bar grafiğini de oluşturup tamamlıyoruz</a:t>
            </a:r>
            <a:r>
              <a:rPr lang="tr-TR" dirty="0"/>
              <a:t>.</a:t>
            </a:r>
          </a:p>
        </p:txBody>
      </p:sp>
      <p:pic>
        <p:nvPicPr>
          <p:cNvPr id="5" name="Resim 4">
            <a:extLst>
              <a:ext uri="{FF2B5EF4-FFF2-40B4-BE49-F238E27FC236}">
                <a16:creationId xmlns:a16="http://schemas.microsoft.com/office/drawing/2014/main" id="{91254135-DD18-CF04-BC99-FACD5A168BF4}"/>
              </a:ext>
            </a:extLst>
          </p:cNvPr>
          <p:cNvPicPr>
            <a:picLocks noChangeAspect="1"/>
          </p:cNvPicPr>
          <p:nvPr/>
        </p:nvPicPr>
        <p:blipFill>
          <a:blip r:embed="rId2"/>
          <a:stretch>
            <a:fillRect/>
          </a:stretch>
        </p:blipFill>
        <p:spPr>
          <a:xfrm>
            <a:off x="235367" y="675971"/>
            <a:ext cx="10972865" cy="2858729"/>
          </a:xfrm>
          <a:prstGeom prst="rect">
            <a:avLst/>
          </a:prstGeom>
        </p:spPr>
      </p:pic>
      <p:pic>
        <p:nvPicPr>
          <p:cNvPr id="7" name="Resim 6">
            <a:extLst>
              <a:ext uri="{FF2B5EF4-FFF2-40B4-BE49-F238E27FC236}">
                <a16:creationId xmlns:a16="http://schemas.microsoft.com/office/drawing/2014/main" id="{B4629A99-6F95-ACF1-B932-189DE03B080E}"/>
              </a:ext>
            </a:extLst>
          </p:cNvPr>
          <p:cNvPicPr>
            <a:picLocks noChangeAspect="1"/>
          </p:cNvPicPr>
          <p:nvPr/>
        </p:nvPicPr>
        <p:blipFill>
          <a:blip r:embed="rId3"/>
          <a:stretch>
            <a:fillRect/>
          </a:stretch>
        </p:blipFill>
        <p:spPr>
          <a:xfrm>
            <a:off x="314493" y="3640400"/>
            <a:ext cx="10490479" cy="3048479"/>
          </a:xfrm>
          <a:prstGeom prst="rect">
            <a:avLst/>
          </a:prstGeom>
        </p:spPr>
      </p:pic>
    </p:spTree>
    <p:extLst>
      <p:ext uri="{BB962C8B-B14F-4D97-AF65-F5344CB8AC3E}">
        <p14:creationId xmlns:p14="http://schemas.microsoft.com/office/powerpoint/2010/main" val="3361872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88CD2D9-9AAB-963B-0412-943EDE490E7E}"/>
              </a:ext>
            </a:extLst>
          </p:cNvPr>
          <p:cNvSpPr>
            <a:spLocks noGrp="1"/>
          </p:cNvSpPr>
          <p:nvPr>
            <p:ph type="title"/>
          </p:nvPr>
        </p:nvSpPr>
        <p:spPr>
          <a:xfrm>
            <a:off x="913795" y="245806"/>
            <a:ext cx="10353762" cy="970450"/>
          </a:xfrm>
        </p:spPr>
        <p:txBody>
          <a:bodyPr>
            <a:normAutofit fontScale="90000"/>
          </a:bodyPr>
          <a:lstStyle/>
          <a:p>
            <a:r>
              <a:rPr lang="tr-TR" b="1" dirty="0">
                <a:solidFill>
                  <a:srgbClr val="00B050"/>
                </a:solidFill>
              </a:rPr>
              <a:t>Peki Kodu Çalıştırdığımızda Grafikler Nasıl ? </a:t>
            </a:r>
          </a:p>
        </p:txBody>
      </p:sp>
      <p:sp>
        <p:nvSpPr>
          <p:cNvPr id="3" name="İçerik Yer Tutucusu 2">
            <a:extLst>
              <a:ext uri="{FF2B5EF4-FFF2-40B4-BE49-F238E27FC236}">
                <a16:creationId xmlns:a16="http://schemas.microsoft.com/office/drawing/2014/main" id="{E7C83610-D8B2-E479-293A-A4BEEF11AB01}"/>
              </a:ext>
            </a:extLst>
          </p:cNvPr>
          <p:cNvSpPr>
            <a:spLocks noGrp="1"/>
          </p:cNvSpPr>
          <p:nvPr>
            <p:ph idx="1"/>
          </p:nvPr>
        </p:nvSpPr>
        <p:spPr>
          <a:xfrm>
            <a:off x="412350" y="1113016"/>
            <a:ext cx="10353762" cy="460145"/>
          </a:xfrm>
        </p:spPr>
        <p:txBody>
          <a:bodyPr/>
          <a:lstStyle/>
          <a:p>
            <a:pPr marL="36900" indent="0">
              <a:buNone/>
            </a:pPr>
            <a:r>
              <a:rPr lang="tr-TR" b="1" dirty="0">
                <a:solidFill>
                  <a:srgbClr val="7030A0"/>
                </a:solidFill>
              </a:rPr>
              <a:t>HİSTOGRAM:</a:t>
            </a:r>
          </a:p>
        </p:txBody>
      </p:sp>
      <p:pic>
        <p:nvPicPr>
          <p:cNvPr id="5" name="Resim 4">
            <a:extLst>
              <a:ext uri="{FF2B5EF4-FFF2-40B4-BE49-F238E27FC236}">
                <a16:creationId xmlns:a16="http://schemas.microsoft.com/office/drawing/2014/main" id="{D3E7B6A4-5C01-2D25-07A6-99B793D422BE}"/>
              </a:ext>
            </a:extLst>
          </p:cNvPr>
          <p:cNvPicPr>
            <a:picLocks noChangeAspect="1"/>
          </p:cNvPicPr>
          <p:nvPr/>
        </p:nvPicPr>
        <p:blipFill>
          <a:blip r:embed="rId2"/>
          <a:stretch>
            <a:fillRect/>
          </a:stretch>
        </p:blipFill>
        <p:spPr>
          <a:xfrm>
            <a:off x="2522136" y="1343088"/>
            <a:ext cx="7538533" cy="5139732"/>
          </a:xfrm>
          <a:prstGeom prst="rect">
            <a:avLst/>
          </a:prstGeom>
        </p:spPr>
      </p:pic>
    </p:spTree>
    <p:extLst>
      <p:ext uri="{BB962C8B-B14F-4D97-AF65-F5344CB8AC3E}">
        <p14:creationId xmlns:p14="http://schemas.microsoft.com/office/powerpoint/2010/main" val="2534755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D863534-CE6C-E1B0-45A2-6E466D9CC131}"/>
              </a:ext>
            </a:extLst>
          </p:cNvPr>
          <p:cNvSpPr>
            <a:spLocks noGrp="1"/>
          </p:cNvSpPr>
          <p:nvPr>
            <p:ph idx="1"/>
          </p:nvPr>
        </p:nvSpPr>
        <p:spPr>
          <a:xfrm>
            <a:off x="215705" y="110126"/>
            <a:ext cx="10353762" cy="696119"/>
          </a:xfrm>
        </p:spPr>
        <p:txBody>
          <a:bodyPr/>
          <a:lstStyle/>
          <a:p>
            <a:pPr marL="36900" indent="0">
              <a:buNone/>
            </a:pPr>
            <a:r>
              <a:rPr lang="tr-TR" b="1" dirty="0">
                <a:solidFill>
                  <a:srgbClr val="7030A0"/>
                </a:solidFill>
              </a:rPr>
              <a:t>KUTU GRAFİKLERİ:</a:t>
            </a:r>
          </a:p>
        </p:txBody>
      </p:sp>
      <p:pic>
        <p:nvPicPr>
          <p:cNvPr id="5" name="Resim 4">
            <a:extLst>
              <a:ext uri="{FF2B5EF4-FFF2-40B4-BE49-F238E27FC236}">
                <a16:creationId xmlns:a16="http://schemas.microsoft.com/office/drawing/2014/main" id="{4892BF7A-0951-1E99-E492-225A7DA6C71F}"/>
              </a:ext>
            </a:extLst>
          </p:cNvPr>
          <p:cNvPicPr>
            <a:picLocks noChangeAspect="1"/>
          </p:cNvPicPr>
          <p:nvPr/>
        </p:nvPicPr>
        <p:blipFill>
          <a:blip r:embed="rId2"/>
          <a:stretch>
            <a:fillRect/>
          </a:stretch>
        </p:blipFill>
        <p:spPr>
          <a:xfrm>
            <a:off x="1410929" y="806245"/>
            <a:ext cx="9370142" cy="5230761"/>
          </a:xfrm>
          <a:prstGeom prst="rect">
            <a:avLst/>
          </a:prstGeom>
        </p:spPr>
      </p:pic>
    </p:spTree>
    <p:extLst>
      <p:ext uri="{BB962C8B-B14F-4D97-AF65-F5344CB8AC3E}">
        <p14:creationId xmlns:p14="http://schemas.microsoft.com/office/powerpoint/2010/main" val="20585121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CF71275-6596-9AB4-D6E8-C2007E533826}"/>
              </a:ext>
            </a:extLst>
          </p:cNvPr>
          <p:cNvSpPr>
            <a:spLocks noGrp="1"/>
          </p:cNvSpPr>
          <p:nvPr>
            <p:ph idx="1"/>
          </p:nvPr>
        </p:nvSpPr>
        <p:spPr>
          <a:xfrm>
            <a:off x="156711" y="208450"/>
            <a:ext cx="10353762" cy="725615"/>
          </a:xfrm>
        </p:spPr>
        <p:txBody>
          <a:bodyPr/>
          <a:lstStyle/>
          <a:p>
            <a:pPr marL="36900" indent="0">
              <a:buNone/>
            </a:pPr>
            <a:r>
              <a:rPr lang="tr-TR" b="1" dirty="0">
                <a:solidFill>
                  <a:srgbClr val="7030A0"/>
                </a:solidFill>
              </a:rPr>
              <a:t>BAR GRAFİKLERİ:</a:t>
            </a:r>
          </a:p>
        </p:txBody>
      </p:sp>
      <p:pic>
        <p:nvPicPr>
          <p:cNvPr id="5" name="Resim 4">
            <a:extLst>
              <a:ext uri="{FF2B5EF4-FFF2-40B4-BE49-F238E27FC236}">
                <a16:creationId xmlns:a16="http://schemas.microsoft.com/office/drawing/2014/main" id="{20632A85-8C1D-12E7-3445-5236A88422B8}"/>
              </a:ext>
            </a:extLst>
          </p:cNvPr>
          <p:cNvPicPr>
            <a:picLocks noChangeAspect="1"/>
          </p:cNvPicPr>
          <p:nvPr/>
        </p:nvPicPr>
        <p:blipFill>
          <a:blip r:embed="rId2"/>
          <a:stretch>
            <a:fillRect/>
          </a:stretch>
        </p:blipFill>
        <p:spPr>
          <a:xfrm>
            <a:off x="2664542" y="571257"/>
            <a:ext cx="7845931" cy="5711556"/>
          </a:xfrm>
          <a:prstGeom prst="rect">
            <a:avLst/>
          </a:prstGeom>
        </p:spPr>
      </p:pic>
    </p:spTree>
    <p:extLst>
      <p:ext uri="{BB962C8B-B14F-4D97-AF65-F5344CB8AC3E}">
        <p14:creationId xmlns:p14="http://schemas.microsoft.com/office/powerpoint/2010/main" val="2531419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57A9F88-AC95-3278-676D-C9072AED9755}"/>
              </a:ext>
            </a:extLst>
          </p:cNvPr>
          <p:cNvSpPr>
            <a:spLocks noGrp="1"/>
          </p:cNvSpPr>
          <p:nvPr>
            <p:ph idx="1"/>
          </p:nvPr>
        </p:nvSpPr>
        <p:spPr>
          <a:xfrm>
            <a:off x="245201" y="169121"/>
            <a:ext cx="10353762" cy="578132"/>
          </a:xfrm>
        </p:spPr>
        <p:txBody>
          <a:bodyPr/>
          <a:lstStyle/>
          <a:p>
            <a:pPr marL="36900" indent="0">
              <a:buNone/>
            </a:pPr>
            <a:r>
              <a:rPr lang="tr-TR" b="1" dirty="0">
                <a:solidFill>
                  <a:srgbClr val="7030A0"/>
                </a:solidFill>
              </a:rPr>
              <a:t>İKİLİ SCATTER GRAFİKLERİ:</a:t>
            </a:r>
          </a:p>
        </p:txBody>
      </p:sp>
      <p:pic>
        <p:nvPicPr>
          <p:cNvPr id="5" name="Resim 4">
            <a:extLst>
              <a:ext uri="{FF2B5EF4-FFF2-40B4-BE49-F238E27FC236}">
                <a16:creationId xmlns:a16="http://schemas.microsoft.com/office/drawing/2014/main" id="{0948B586-5563-10B8-AFBC-56E35CE379D0}"/>
              </a:ext>
            </a:extLst>
          </p:cNvPr>
          <p:cNvPicPr>
            <a:picLocks noChangeAspect="1"/>
          </p:cNvPicPr>
          <p:nvPr/>
        </p:nvPicPr>
        <p:blipFill>
          <a:blip r:embed="rId2"/>
          <a:stretch>
            <a:fillRect/>
          </a:stretch>
        </p:blipFill>
        <p:spPr>
          <a:xfrm>
            <a:off x="245201" y="1022555"/>
            <a:ext cx="5850799" cy="5309419"/>
          </a:xfrm>
          <a:prstGeom prst="rect">
            <a:avLst/>
          </a:prstGeom>
        </p:spPr>
      </p:pic>
      <p:pic>
        <p:nvPicPr>
          <p:cNvPr id="7" name="Resim 6">
            <a:extLst>
              <a:ext uri="{FF2B5EF4-FFF2-40B4-BE49-F238E27FC236}">
                <a16:creationId xmlns:a16="http://schemas.microsoft.com/office/drawing/2014/main" id="{6E084E9E-191C-A5E5-A7AB-EFD961D5D7A4}"/>
              </a:ext>
            </a:extLst>
          </p:cNvPr>
          <p:cNvPicPr>
            <a:picLocks noChangeAspect="1"/>
          </p:cNvPicPr>
          <p:nvPr/>
        </p:nvPicPr>
        <p:blipFill>
          <a:blip r:embed="rId3"/>
          <a:stretch>
            <a:fillRect/>
          </a:stretch>
        </p:blipFill>
        <p:spPr>
          <a:xfrm>
            <a:off x="6331974" y="1022555"/>
            <a:ext cx="5761703" cy="5397910"/>
          </a:xfrm>
          <a:prstGeom prst="rect">
            <a:avLst/>
          </a:prstGeom>
        </p:spPr>
      </p:pic>
    </p:spTree>
    <p:extLst>
      <p:ext uri="{BB962C8B-B14F-4D97-AF65-F5344CB8AC3E}">
        <p14:creationId xmlns:p14="http://schemas.microsoft.com/office/powerpoint/2010/main" val="704558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Resim 5">
            <a:extLst>
              <a:ext uri="{FF2B5EF4-FFF2-40B4-BE49-F238E27FC236}">
                <a16:creationId xmlns:a16="http://schemas.microsoft.com/office/drawing/2014/main" id="{CFDDBE69-4E78-CD81-2E48-4178FDB9B863}"/>
              </a:ext>
            </a:extLst>
          </p:cNvPr>
          <p:cNvPicPr>
            <a:picLocks noChangeAspect="1"/>
          </p:cNvPicPr>
          <p:nvPr/>
        </p:nvPicPr>
        <p:blipFill>
          <a:blip r:embed="rId2"/>
          <a:stretch>
            <a:fillRect/>
          </a:stretch>
        </p:blipFill>
        <p:spPr>
          <a:xfrm>
            <a:off x="285137" y="648928"/>
            <a:ext cx="5810863" cy="5584723"/>
          </a:xfrm>
          <a:prstGeom prst="rect">
            <a:avLst/>
          </a:prstGeom>
        </p:spPr>
      </p:pic>
      <p:pic>
        <p:nvPicPr>
          <p:cNvPr id="8" name="Resim 7">
            <a:extLst>
              <a:ext uri="{FF2B5EF4-FFF2-40B4-BE49-F238E27FC236}">
                <a16:creationId xmlns:a16="http://schemas.microsoft.com/office/drawing/2014/main" id="{9B17ECFF-05C9-8E43-19BE-ACC08D8B3919}"/>
              </a:ext>
            </a:extLst>
          </p:cNvPr>
          <p:cNvPicPr>
            <a:picLocks noChangeAspect="1"/>
          </p:cNvPicPr>
          <p:nvPr/>
        </p:nvPicPr>
        <p:blipFill>
          <a:blip r:embed="rId3"/>
          <a:stretch>
            <a:fillRect/>
          </a:stretch>
        </p:blipFill>
        <p:spPr>
          <a:xfrm>
            <a:off x="6449961" y="648927"/>
            <a:ext cx="5653549" cy="5584723"/>
          </a:xfrm>
          <a:prstGeom prst="rect">
            <a:avLst/>
          </a:prstGeom>
        </p:spPr>
      </p:pic>
    </p:spTree>
    <p:extLst>
      <p:ext uri="{BB962C8B-B14F-4D97-AF65-F5344CB8AC3E}">
        <p14:creationId xmlns:p14="http://schemas.microsoft.com/office/powerpoint/2010/main" val="1885504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2E6A8840-9C11-5CE0-9CDD-6843B86F4E1B}"/>
              </a:ext>
            </a:extLst>
          </p:cNvPr>
          <p:cNvPicPr>
            <a:picLocks noChangeAspect="1"/>
          </p:cNvPicPr>
          <p:nvPr/>
        </p:nvPicPr>
        <p:blipFill>
          <a:blip r:embed="rId2"/>
          <a:stretch>
            <a:fillRect/>
          </a:stretch>
        </p:blipFill>
        <p:spPr>
          <a:xfrm>
            <a:off x="167150" y="635410"/>
            <a:ext cx="5663379" cy="5587180"/>
          </a:xfrm>
          <a:prstGeom prst="rect">
            <a:avLst/>
          </a:prstGeom>
        </p:spPr>
      </p:pic>
      <p:pic>
        <p:nvPicPr>
          <p:cNvPr id="7" name="Resim 6">
            <a:extLst>
              <a:ext uri="{FF2B5EF4-FFF2-40B4-BE49-F238E27FC236}">
                <a16:creationId xmlns:a16="http://schemas.microsoft.com/office/drawing/2014/main" id="{B70FFA36-20AE-505D-8B12-5A3487A8B21B}"/>
              </a:ext>
            </a:extLst>
          </p:cNvPr>
          <p:cNvPicPr>
            <a:picLocks noChangeAspect="1"/>
          </p:cNvPicPr>
          <p:nvPr/>
        </p:nvPicPr>
        <p:blipFill>
          <a:blip r:embed="rId3"/>
          <a:stretch>
            <a:fillRect/>
          </a:stretch>
        </p:blipFill>
        <p:spPr>
          <a:xfrm>
            <a:off x="6499123" y="635409"/>
            <a:ext cx="5525727" cy="5587179"/>
          </a:xfrm>
          <a:prstGeom prst="rect">
            <a:avLst/>
          </a:prstGeom>
        </p:spPr>
      </p:pic>
    </p:spTree>
    <p:extLst>
      <p:ext uri="{BB962C8B-B14F-4D97-AF65-F5344CB8AC3E}">
        <p14:creationId xmlns:p14="http://schemas.microsoft.com/office/powerpoint/2010/main" val="3550562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C38AEC60-7AC2-6A5B-3E20-16E9C0A4E991}"/>
              </a:ext>
            </a:extLst>
          </p:cNvPr>
          <p:cNvPicPr>
            <a:picLocks noChangeAspect="1"/>
          </p:cNvPicPr>
          <p:nvPr/>
        </p:nvPicPr>
        <p:blipFill>
          <a:blip r:embed="rId2"/>
          <a:stretch>
            <a:fillRect/>
          </a:stretch>
        </p:blipFill>
        <p:spPr>
          <a:xfrm>
            <a:off x="88490" y="430161"/>
            <a:ext cx="5889523" cy="5997677"/>
          </a:xfrm>
          <a:prstGeom prst="rect">
            <a:avLst/>
          </a:prstGeom>
        </p:spPr>
      </p:pic>
      <p:pic>
        <p:nvPicPr>
          <p:cNvPr id="7" name="Resim 6">
            <a:extLst>
              <a:ext uri="{FF2B5EF4-FFF2-40B4-BE49-F238E27FC236}">
                <a16:creationId xmlns:a16="http://schemas.microsoft.com/office/drawing/2014/main" id="{40DC269E-CB9E-7804-7FD5-8AFD08841589}"/>
              </a:ext>
            </a:extLst>
          </p:cNvPr>
          <p:cNvPicPr>
            <a:picLocks noChangeAspect="1"/>
          </p:cNvPicPr>
          <p:nvPr/>
        </p:nvPicPr>
        <p:blipFill>
          <a:blip r:embed="rId3"/>
          <a:stretch>
            <a:fillRect/>
          </a:stretch>
        </p:blipFill>
        <p:spPr>
          <a:xfrm>
            <a:off x="6381136" y="430161"/>
            <a:ext cx="5604388" cy="5997676"/>
          </a:xfrm>
          <a:prstGeom prst="rect">
            <a:avLst/>
          </a:prstGeom>
        </p:spPr>
      </p:pic>
    </p:spTree>
    <p:extLst>
      <p:ext uri="{BB962C8B-B14F-4D97-AF65-F5344CB8AC3E}">
        <p14:creationId xmlns:p14="http://schemas.microsoft.com/office/powerpoint/2010/main" val="739283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69B1450F-0B92-0C4E-B706-6813C0C20173}"/>
              </a:ext>
            </a:extLst>
          </p:cNvPr>
          <p:cNvPicPr>
            <a:picLocks noChangeAspect="1"/>
          </p:cNvPicPr>
          <p:nvPr/>
        </p:nvPicPr>
        <p:blipFill>
          <a:blip r:embed="rId2"/>
          <a:stretch>
            <a:fillRect/>
          </a:stretch>
        </p:blipFill>
        <p:spPr>
          <a:xfrm>
            <a:off x="324465" y="324464"/>
            <a:ext cx="5506064" cy="6086168"/>
          </a:xfrm>
          <a:prstGeom prst="rect">
            <a:avLst/>
          </a:prstGeom>
        </p:spPr>
      </p:pic>
      <p:pic>
        <p:nvPicPr>
          <p:cNvPr id="7" name="Resim 6">
            <a:extLst>
              <a:ext uri="{FF2B5EF4-FFF2-40B4-BE49-F238E27FC236}">
                <a16:creationId xmlns:a16="http://schemas.microsoft.com/office/drawing/2014/main" id="{A2DCBF18-D878-DE5E-E4B6-8247998321EA}"/>
              </a:ext>
            </a:extLst>
          </p:cNvPr>
          <p:cNvPicPr>
            <a:picLocks noChangeAspect="1"/>
          </p:cNvPicPr>
          <p:nvPr/>
        </p:nvPicPr>
        <p:blipFill>
          <a:blip r:embed="rId3"/>
          <a:stretch>
            <a:fillRect/>
          </a:stretch>
        </p:blipFill>
        <p:spPr>
          <a:xfrm>
            <a:off x="6096000" y="324464"/>
            <a:ext cx="5771535" cy="6086168"/>
          </a:xfrm>
          <a:prstGeom prst="rect">
            <a:avLst/>
          </a:prstGeom>
        </p:spPr>
      </p:pic>
    </p:spTree>
    <p:extLst>
      <p:ext uri="{BB962C8B-B14F-4D97-AF65-F5344CB8AC3E}">
        <p14:creationId xmlns:p14="http://schemas.microsoft.com/office/powerpoint/2010/main" val="18407236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E0A8484A-013C-5BF4-8164-2EB9A07F7F57}"/>
              </a:ext>
            </a:extLst>
          </p:cNvPr>
          <p:cNvPicPr>
            <a:picLocks noChangeAspect="1"/>
          </p:cNvPicPr>
          <p:nvPr/>
        </p:nvPicPr>
        <p:blipFill>
          <a:blip r:embed="rId2"/>
          <a:stretch>
            <a:fillRect/>
          </a:stretch>
        </p:blipFill>
        <p:spPr>
          <a:xfrm>
            <a:off x="196647" y="557980"/>
            <a:ext cx="5899354" cy="5921478"/>
          </a:xfrm>
          <a:prstGeom prst="rect">
            <a:avLst/>
          </a:prstGeom>
        </p:spPr>
      </p:pic>
      <p:pic>
        <p:nvPicPr>
          <p:cNvPr id="7" name="Resim 6">
            <a:extLst>
              <a:ext uri="{FF2B5EF4-FFF2-40B4-BE49-F238E27FC236}">
                <a16:creationId xmlns:a16="http://schemas.microsoft.com/office/drawing/2014/main" id="{27F59A9D-027C-4F67-266D-EC85B7AAA5DE}"/>
              </a:ext>
            </a:extLst>
          </p:cNvPr>
          <p:cNvPicPr>
            <a:picLocks noChangeAspect="1"/>
          </p:cNvPicPr>
          <p:nvPr/>
        </p:nvPicPr>
        <p:blipFill>
          <a:blip r:embed="rId3"/>
          <a:stretch>
            <a:fillRect/>
          </a:stretch>
        </p:blipFill>
        <p:spPr>
          <a:xfrm>
            <a:off x="6371303" y="557980"/>
            <a:ext cx="5624051" cy="5921478"/>
          </a:xfrm>
          <a:prstGeom prst="rect">
            <a:avLst/>
          </a:prstGeom>
        </p:spPr>
      </p:pic>
    </p:spTree>
    <p:extLst>
      <p:ext uri="{BB962C8B-B14F-4D97-AF65-F5344CB8AC3E}">
        <p14:creationId xmlns:p14="http://schemas.microsoft.com/office/powerpoint/2010/main" val="7821655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CD4B829-1480-6627-BEC0-83653DEAFD2D}"/>
              </a:ext>
            </a:extLst>
          </p:cNvPr>
          <p:cNvSpPr>
            <a:spLocks noGrp="1"/>
          </p:cNvSpPr>
          <p:nvPr>
            <p:ph type="title"/>
          </p:nvPr>
        </p:nvSpPr>
        <p:spPr>
          <a:xfrm>
            <a:off x="919119" y="294968"/>
            <a:ext cx="10353762" cy="970450"/>
          </a:xfrm>
        </p:spPr>
        <p:txBody>
          <a:bodyPr/>
          <a:lstStyle/>
          <a:p>
            <a:r>
              <a:rPr lang="tr-TR" b="1" i="1" dirty="0">
                <a:solidFill>
                  <a:srgbClr val="C00000"/>
                </a:solidFill>
              </a:rPr>
              <a:t>Hipotez Testleri</a:t>
            </a:r>
          </a:p>
        </p:txBody>
      </p:sp>
      <p:sp>
        <p:nvSpPr>
          <p:cNvPr id="3" name="İçerik Yer Tutucusu 2">
            <a:extLst>
              <a:ext uri="{FF2B5EF4-FFF2-40B4-BE49-F238E27FC236}">
                <a16:creationId xmlns:a16="http://schemas.microsoft.com/office/drawing/2014/main" id="{BECA4926-0EE9-DED3-C996-F0D935D13D09}"/>
              </a:ext>
            </a:extLst>
          </p:cNvPr>
          <p:cNvSpPr>
            <a:spLocks noGrp="1"/>
          </p:cNvSpPr>
          <p:nvPr>
            <p:ph idx="1"/>
          </p:nvPr>
        </p:nvSpPr>
        <p:spPr>
          <a:xfrm>
            <a:off x="919119" y="1437481"/>
            <a:ext cx="10353762" cy="4717512"/>
          </a:xfrm>
        </p:spPr>
        <p:txBody>
          <a:bodyPr>
            <a:normAutofit/>
          </a:bodyPr>
          <a:lstStyle/>
          <a:p>
            <a:pPr marL="36900" indent="0">
              <a:buNone/>
            </a:pPr>
            <a:r>
              <a:rPr lang="tr-TR" b="1" dirty="0"/>
              <a:t>Hipotez Testleri</a:t>
            </a:r>
            <a:r>
              <a:rPr lang="tr-TR" dirty="0"/>
              <a:t>, bir veri seti üzerinde belirli varsayımların (hipotezlerin) doğru olup olmadığını test etmek için kullanılan istatistiksel yöntemlerdir.</a:t>
            </a:r>
          </a:p>
          <a:p>
            <a:pPr marL="36900" indent="0">
              <a:buNone/>
            </a:pPr>
            <a:endParaRPr lang="tr-TR" dirty="0"/>
          </a:p>
          <a:p>
            <a:pPr marL="36900" indent="0">
              <a:buNone/>
            </a:pPr>
            <a:r>
              <a:rPr lang="tr-TR" b="1" dirty="0"/>
              <a:t> t-Testi: İ</a:t>
            </a:r>
            <a:r>
              <a:rPr lang="tr-TR" dirty="0"/>
              <a:t>ki grup arasındaki ortalamaların farklı olup olmadığını test eder.</a:t>
            </a:r>
          </a:p>
          <a:p>
            <a:pPr marL="36900" indent="0">
              <a:buNone/>
            </a:pPr>
            <a:endParaRPr lang="tr-TR" dirty="0"/>
          </a:p>
          <a:p>
            <a:pPr marL="36900" indent="0">
              <a:buNone/>
            </a:pPr>
            <a:r>
              <a:rPr lang="tr-TR" b="1" dirty="0"/>
              <a:t>Ki-Kare Testi:</a:t>
            </a:r>
            <a:r>
              <a:rPr lang="tr-TR" dirty="0"/>
              <a:t> İki kategorik değişken arasında ilişki olup olmadığını test eder.</a:t>
            </a:r>
          </a:p>
          <a:p>
            <a:pPr marL="36900" indent="0">
              <a:buNone/>
            </a:pPr>
            <a:endParaRPr lang="tr-TR" dirty="0"/>
          </a:p>
          <a:p>
            <a:pPr marL="36900" indent="0">
              <a:buNone/>
            </a:pPr>
            <a:r>
              <a:rPr lang="tr-TR" b="1" dirty="0"/>
              <a:t>ANOVA (Analysis of Variance):</a:t>
            </a:r>
            <a:r>
              <a:rPr lang="tr-TR" dirty="0"/>
              <a:t> Üç veya daha fazla grubun ortalamaları arasında anlamlı fark olup olmadığını test eder.</a:t>
            </a:r>
          </a:p>
          <a:p>
            <a:pPr marL="36900" indent="0">
              <a:buNone/>
            </a:pPr>
            <a:endParaRPr lang="tr-TR" dirty="0"/>
          </a:p>
          <a:p>
            <a:pPr marL="36900" indent="0">
              <a:buNone/>
            </a:pPr>
            <a:endParaRPr lang="tr-TR" dirty="0"/>
          </a:p>
          <a:p>
            <a:pPr marL="36900" indent="0">
              <a:buNone/>
            </a:pPr>
            <a:endParaRPr lang="tr-TR" dirty="0"/>
          </a:p>
          <a:p>
            <a:pPr marL="36900" indent="0">
              <a:buNone/>
            </a:pPr>
            <a:endParaRPr lang="tr-TR" dirty="0"/>
          </a:p>
          <a:p>
            <a:pPr marL="36900" indent="0">
              <a:buNone/>
            </a:pPr>
            <a:endParaRPr lang="tr-TR" dirty="0"/>
          </a:p>
        </p:txBody>
      </p:sp>
    </p:spTree>
    <p:extLst>
      <p:ext uri="{BB962C8B-B14F-4D97-AF65-F5344CB8AC3E}">
        <p14:creationId xmlns:p14="http://schemas.microsoft.com/office/powerpoint/2010/main" val="22155096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923D5E1-F908-D86D-D70F-86D363D3BA29}"/>
              </a:ext>
            </a:extLst>
          </p:cNvPr>
          <p:cNvSpPr>
            <a:spLocks noGrp="1"/>
          </p:cNvSpPr>
          <p:nvPr>
            <p:ph idx="1"/>
          </p:nvPr>
        </p:nvSpPr>
        <p:spPr>
          <a:xfrm>
            <a:off x="373021" y="218283"/>
            <a:ext cx="10353762" cy="587964"/>
          </a:xfrm>
        </p:spPr>
        <p:txBody>
          <a:bodyPr>
            <a:normAutofit fontScale="92500" lnSpcReduction="20000"/>
          </a:bodyPr>
          <a:lstStyle/>
          <a:p>
            <a:pPr marL="36900" indent="0">
              <a:buNone/>
            </a:pPr>
            <a:r>
              <a:rPr lang="tr-TR" b="1" i="1" dirty="0"/>
              <a:t>1)Gerekli kütüphaneleri içe aktardık, veri seti yüklendi, sayısal değerlere dönüştürdükten sonra eksik verileri siliyoruz.</a:t>
            </a:r>
          </a:p>
        </p:txBody>
      </p:sp>
      <p:pic>
        <p:nvPicPr>
          <p:cNvPr id="6" name="Resim 5">
            <a:extLst>
              <a:ext uri="{FF2B5EF4-FFF2-40B4-BE49-F238E27FC236}">
                <a16:creationId xmlns:a16="http://schemas.microsoft.com/office/drawing/2014/main" id="{108DC7D6-C65C-E26E-C04A-2DDEB639B9E1}"/>
              </a:ext>
            </a:extLst>
          </p:cNvPr>
          <p:cNvPicPr>
            <a:picLocks noChangeAspect="1"/>
          </p:cNvPicPr>
          <p:nvPr/>
        </p:nvPicPr>
        <p:blipFill>
          <a:blip r:embed="rId2"/>
          <a:stretch>
            <a:fillRect/>
          </a:stretch>
        </p:blipFill>
        <p:spPr>
          <a:xfrm>
            <a:off x="373021" y="806247"/>
            <a:ext cx="10774474" cy="2835175"/>
          </a:xfrm>
          <a:prstGeom prst="rect">
            <a:avLst/>
          </a:prstGeom>
        </p:spPr>
      </p:pic>
      <p:pic>
        <p:nvPicPr>
          <p:cNvPr id="8" name="Resim 7">
            <a:extLst>
              <a:ext uri="{FF2B5EF4-FFF2-40B4-BE49-F238E27FC236}">
                <a16:creationId xmlns:a16="http://schemas.microsoft.com/office/drawing/2014/main" id="{274AC635-7D12-D9F7-18F3-CF2766DEBCFE}"/>
              </a:ext>
            </a:extLst>
          </p:cNvPr>
          <p:cNvPicPr>
            <a:picLocks noChangeAspect="1"/>
          </p:cNvPicPr>
          <p:nvPr/>
        </p:nvPicPr>
        <p:blipFill>
          <a:blip r:embed="rId3"/>
          <a:stretch>
            <a:fillRect/>
          </a:stretch>
        </p:blipFill>
        <p:spPr>
          <a:xfrm>
            <a:off x="373021" y="4248850"/>
            <a:ext cx="9331418" cy="2390867"/>
          </a:xfrm>
          <a:prstGeom prst="rect">
            <a:avLst/>
          </a:prstGeom>
        </p:spPr>
      </p:pic>
      <p:sp>
        <p:nvSpPr>
          <p:cNvPr id="9" name="Metin kutusu 8">
            <a:extLst>
              <a:ext uri="{FF2B5EF4-FFF2-40B4-BE49-F238E27FC236}">
                <a16:creationId xmlns:a16="http://schemas.microsoft.com/office/drawing/2014/main" id="{7021024A-9A89-56B2-66C6-94FC1C840BBB}"/>
              </a:ext>
            </a:extLst>
          </p:cNvPr>
          <p:cNvSpPr txBox="1"/>
          <p:nvPr/>
        </p:nvSpPr>
        <p:spPr>
          <a:xfrm>
            <a:off x="373021" y="3760470"/>
            <a:ext cx="8259097" cy="369332"/>
          </a:xfrm>
          <a:prstGeom prst="rect">
            <a:avLst/>
          </a:prstGeom>
          <a:noFill/>
        </p:spPr>
        <p:txBody>
          <a:bodyPr wrap="square" rtlCol="0">
            <a:spAutoFit/>
          </a:bodyPr>
          <a:lstStyle/>
          <a:p>
            <a:r>
              <a:rPr lang="tr-TR" b="1" i="1" dirty="0"/>
              <a:t>2)t_testi kodları</a:t>
            </a:r>
          </a:p>
        </p:txBody>
      </p:sp>
    </p:spTree>
    <p:extLst>
      <p:ext uri="{BB962C8B-B14F-4D97-AF65-F5344CB8AC3E}">
        <p14:creationId xmlns:p14="http://schemas.microsoft.com/office/powerpoint/2010/main" val="1505942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5D1CA15-3AA3-9C64-C185-6F50A4540A06}"/>
              </a:ext>
            </a:extLst>
          </p:cNvPr>
          <p:cNvSpPr>
            <a:spLocks noGrp="1"/>
          </p:cNvSpPr>
          <p:nvPr>
            <p:ph idx="1"/>
          </p:nvPr>
        </p:nvSpPr>
        <p:spPr>
          <a:xfrm>
            <a:off x="205873" y="257611"/>
            <a:ext cx="10353762" cy="587963"/>
          </a:xfrm>
        </p:spPr>
        <p:txBody>
          <a:bodyPr/>
          <a:lstStyle/>
          <a:p>
            <a:pPr marL="36900" indent="0">
              <a:buNone/>
            </a:pPr>
            <a:r>
              <a:rPr lang="tr-TR" b="1" i="1" dirty="0"/>
              <a:t>3)Ki_Kare kodları</a:t>
            </a:r>
          </a:p>
        </p:txBody>
      </p:sp>
      <p:pic>
        <p:nvPicPr>
          <p:cNvPr id="5" name="Resim 4">
            <a:extLst>
              <a:ext uri="{FF2B5EF4-FFF2-40B4-BE49-F238E27FC236}">
                <a16:creationId xmlns:a16="http://schemas.microsoft.com/office/drawing/2014/main" id="{6F564E63-DD8C-0C7E-1C35-05004E104A23}"/>
              </a:ext>
            </a:extLst>
          </p:cNvPr>
          <p:cNvPicPr>
            <a:picLocks noChangeAspect="1"/>
          </p:cNvPicPr>
          <p:nvPr/>
        </p:nvPicPr>
        <p:blipFill>
          <a:blip r:embed="rId2"/>
          <a:stretch>
            <a:fillRect/>
          </a:stretch>
        </p:blipFill>
        <p:spPr>
          <a:xfrm>
            <a:off x="296080" y="845574"/>
            <a:ext cx="10478962" cy="2314898"/>
          </a:xfrm>
          <a:prstGeom prst="rect">
            <a:avLst/>
          </a:prstGeom>
        </p:spPr>
      </p:pic>
      <p:sp>
        <p:nvSpPr>
          <p:cNvPr id="6" name="Metin kutusu 5">
            <a:extLst>
              <a:ext uri="{FF2B5EF4-FFF2-40B4-BE49-F238E27FC236}">
                <a16:creationId xmlns:a16="http://schemas.microsoft.com/office/drawing/2014/main" id="{1F046251-7586-9550-8688-6B732203BA8A}"/>
              </a:ext>
            </a:extLst>
          </p:cNvPr>
          <p:cNvSpPr txBox="1"/>
          <p:nvPr/>
        </p:nvSpPr>
        <p:spPr>
          <a:xfrm>
            <a:off x="205873" y="3244334"/>
            <a:ext cx="6961238" cy="369332"/>
          </a:xfrm>
          <a:prstGeom prst="rect">
            <a:avLst/>
          </a:prstGeom>
          <a:noFill/>
        </p:spPr>
        <p:txBody>
          <a:bodyPr wrap="square" rtlCol="0">
            <a:spAutoFit/>
          </a:bodyPr>
          <a:lstStyle/>
          <a:p>
            <a:r>
              <a:rPr lang="tr-TR" b="1" i="1" dirty="0"/>
              <a:t>4)Anova kodları</a:t>
            </a:r>
          </a:p>
        </p:txBody>
      </p:sp>
      <p:pic>
        <p:nvPicPr>
          <p:cNvPr id="8" name="Resim 7">
            <a:extLst>
              <a:ext uri="{FF2B5EF4-FFF2-40B4-BE49-F238E27FC236}">
                <a16:creationId xmlns:a16="http://schemas.microsoft.com/office/drawing/2014/main" id="{A406FE65-B4DE-599F-26D3-265D34590A27}"/>
              </a:ext>
            </a:extLst>
          </p:cNvPr>
          <p:cNvPicPr>
            <a:picLocks noChangeAspect="1"/>
          </p:cNvPicPr>
          <p:nvPr/>
        </p:nvPicPr>
        <p:blipFill>
          <a:blip r:embed="rId3"/>
          <a:stretch>
            <a:fillRect/>
          </a:stretch>
        </p:blipFill>
        <p:spPr>
          <a:xfrm>
            <a:off x="205873" y="3701892"/>
            <a:ext cx="10775042" cy="2898497"/>
          </a:xfrm>
          <a:prstGeom prst="rect">
            <a:avLst/>
          </a:prstGeom>
        </p:spPr>
      </p:pic>
    </p:spTree>
    <p:extLst>
      <p:ext uri="{BB962C8B-B14F-4D97-AF65-F5344CB8AC3E}">
        <p14:creationId xmlns:p14="http://schemas.microsoft.com/office/powerpoint/2010/main" val="284149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BD11338-3E0A-DE61-6C75-AB34011AF534}"/>
              </a:ext>
            </a:extLst>
          </p:cNvPr>
          <p:cNvSpPr>
            <a:spLocks noGrp="1"/>
          </p:cNvSpPr>
          <p:nvPr>
            <p:ph type="title"/>
          </p:nvPr>
        </p:nvSpPr>
        <p:spPr>
          <a:xfrm>
            <a:off x="919119" y="304800"/>
            <a:ext cx="10353762" cy="970450"/>
          </a:xfrm>
        </p:spPr>
        <p:txBody>
          <a:bodyPr>
            <a:normAutofit fontScale="90000"/>
          </a:bodyPr>
          <a:lstStyle/>
          <a:p>
            <a:r>
              <a:rPr lang="tr-TR" b="1" dirty="0">
                <a:solidFill>
                  <a:srgbClr val="00B050"/>
                </a:solidFill>
              </a:rPr>
              <a:t>Peki Kodu Çalıştırdığımızda Terminal Nasıl ?</a:t>
            </a:r>
            <a:endParaRPr lang="tr-TR" dirty="0"/>
          </a:p>
        </p:txBody>
      </p:sp>
      <p:pic>
        <p:nvPicPr>
          <p:cNvPr id="5" name="Resim 4">
            <a:extLst>
              <a:ext uri="{FF2B5EF4-FFF2-40B4-BE49-F238E27FC236}">
                <a16:creationId xmlns:a16="http://schemas.microsoft.com/office/drawing/2014/main" id="{B1DAA11E-C1E1-D220-88A0-CE6BA5BB001E}"/>
              </a:ext>
            </a:extLst>
          </p:cNvPr>
          <p:cNvPicPr>
            <a:picLocks noChangeAspect="1"/>
          </p:cNvPicPr>
          <p:nvPr/>
        </p:nvPicPr>
        <p:blipFill>
          <a:blip r:embed="rId2"/>
          <a:stretch>
            <a:fillRect/>
          </a:stretch>
        </p:blipFill>
        <p:spPr>
          <a:xfrm>
            <a:off x="1260895" y="1644795"/>
            <a:ext cx="3515216" cy="685896"/>
          </a:xfrm>
          <a:prstGeom prst="rect">
            <a:avLst/>
          </a:prstGeom>
        </p:spPr>
      </p:pic>
      <p:pic>
        <p:nvPicPr>
          <p:cNvPr id="7" name="Resim 6">
            <a:extLst>
              <a:ext uri="{FF2B5EF4-FFF2-40B4-BE49-F238E27FC236}">
                <a16:creationId xmlns:a16="http://schemas.microsoft.com/office/drawing/2014/main" id="{D1F2A32C-0F0B-5904-C5F5-6D94BFCB4F7D}"/>
              </a:ext>
            </a:extLst>
          </p:cNvPr>
          <p:cNvPicPr>
            <a:picLocks noChangeAspect="1"/>
          </p:cNvPicPr>
          <p:nvPr/>
        </p:nvPicPr>
        <p:blipFill>
          <a:blip r:embed="rId3"/>
          <a:stretch>
            <a:fillRect/>
          </a:stretch>
        </p:blipFill>
        <p:spPr>
          <a:xfrm>
            <a:off x="4143102" y="2700236"/>
            <a:ext cx="3905795" cy="1457528"/>
          </a:xfrm>
          <a:prstGeom prst="rect">
            <a:avLst/>
          </a:prstGeom>
        </p:spPr>
      </p:pic>
      <p:pic>
        <p:nvPicPr>
          <p:cNvPr id="9" name="Resim 8">
            <a:extLst>
              <a:ext uri="{FF2B5EF4-FFF2-40B4-BE49-F238E27FC236}">
                <a16:creationId xmlns:a16="http://schemas.microsoft.com/office/drawing/2014/main" id="{885F7E83-0515-5BC8-E2F0-288A7282D4C3}"/>
              </a:ext>
            </a:extLst>
          </p:cNvPr>
          <p:cNvPicPr>
            <a:picLocks noChangeAspect="1"/>
          </p:cNvPicPr>
          <p:nvPr/>
        </p:nvPicPr>
        <p:blipFill>
          <a:blip r:embed="rId4"/>
          <a:stretch>
            <a:fillRect/>
          </a:stretch>
        </p:blipFill>
        <p:spPr>
          <a:xfrm>
            <a:off x="7678564" y="4846924"/>
            <a:ext cx="3953427" cy="704948"/>
          </a:xfrm>
          <a:prstGeom prst="rect">
            <a:avLst/>
          </a:prstGeom>
        </p:spPr>
      </p:pic>
    </p:spTree>
    <p:extLst>
      <p:ext uri="{BB962C8B-B14F-4D97-AF65-F5344CB8AC3E}">
        <p14:creationId xmlns:p14="http://schemas.microsoft.com/office/powerpoint/2010/main" val="38132664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537001B-1ACD-B1AA-4883-A18ADCF1A052}"/>
              </a:ext>
            </a:extLst>
          </p:cNvPr>
          <p:cNvSpPr>
            <a:spLocks noGrp="1"/>
          </p:cNvSpPr>
          <p:nvPr>
            <p:ph type="title"/>
          </p:nvPr>
        </p:nvSpPr>
        <p:spPr>
          <a:xfrm>
            <a:off x="844969" y="705950"/>
            <a:ext cx="10353762" cy="970450"/>
          </a:xfrm>
        </p:spPr>
        <p:txBody>
          <a:bodyPr/>
          <a:lstStyle/>
          <a:p>
            <a:r>
              <a:rPr lang="tr-TR" b="1" i="1" dirty="0">
                <a:solidFill>
                  <a:srgbClr val="C00000"/>
                </a:solidFill>
              </a:rPr>
              <a:t>Korelasyon Analizi</a:t>
            </a:r>
          </a:p>
        </p:txBody>
      </p:sp>
      <p:sp>
        <p:nvSpPr>
          <p:cNvPr id="3" name="İçerik Yer Tutucusu 2">
            <a:extLst>
              <a:ext uri="{FF2B5EF4-FFF2-40B4-BE49-F238E27FC236}">
                <a16:creationId xmlns:a16="http://schemas.microsoft.com/office/drawing/2014/main" id="{0F22BB23-8D0D-85E4-4B7A-4C4BD28DC992}"/>
              </a:ext>
            </a:extLst>
          </p:cNvPr>
          <p:cNvSpPr>
            <a:spLocks noGrp="1"/>
          </p:cNvSpPr>
          <p:nvPr>
            <p:ph idx="1"/>
          </p:nvPr>
        </p:nvSpPr>
        <p:spPr>
          <a:xfrm>
            <a:off x="913795" y="2880852"/>
            <a:ext cx="10353762" cy="2300748"/>
          </a:xfrm>
        </p:spPr>
        <p:txBody>
          <a:bodyPr/>
          <a:lstStyle/>
          <a:p>
            <a:pPr marL="36900" indent="0">
              <a:buNone/>
            </a:pPr>
            <a:r>
              <a:rPr lang="tr-TR" b="1" dirty="0"/>
              <a:t>Korelasyon analizi</a:t>
            </a:r>
            <a:r>
              <a:rPr lang="tr-TR" dirty="0"/>
              <a:t>, iki değişken arasındaki ilişkinin gücünü ve yönünü ölçmek için kullanılan bir istatistiksel yöntemdir.</a:t>
            </a:r>
          </a:p>
          <a:p>
            <a:pPr marL="36900" indent="0">
              <a:buNone/>
            </a:pPr>
            <a:endParaRPr lang="tr-TR" dirty="0"/>
          </a:p>
          <a:p>
            <a:pPr marL="36900" indent="0">
              <a:buNone/>
            </a:pPr>
            <a:r>
              <a:rPr lang="tr-TR" b="1" dirty="0"/>
              <a:t>Korelasyon Katsayısı (rrr):</a:t>
            </a:r>
            <a:r>
              <a:rPr lang="tr-TR" dirty="0"/>
              <a:t>İki değişken arasındaki ilişkinin ölçüsüdür.</a:t>
            </a:r>
          </a:p>
          <a:p>
            <a:pPr marL="36900" indent="0">
              <a:buNone/>
            </a:pPr>
            <a:endParaRPr lang="tr-TR" dirty="0"/>
          </a:p>
        </p:txBody>
      </p:sp>
    </p:spTree>
    <p:extLst>
      <p:ext uri="{BB962C8B-B14F-4D97-AF65-F5344CB8AC3E}">
        <p14:creationId xmlns:p14="http://schemas.microsoft.com/office/powerpoint/2010/main" val="3583619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a:extLst>
              <a:ext uri="{FF2B5EF4-FFF2-40B4-BE49-F238E27FC236}">
                <a16:creationId xmlns:a16="http://schemas.microsoft.com/office/drawing/2014/main" id="{7E544D82-E932-AF8C-4F6E-CA14939E0D7E}"/>
              </a:ext>
            </a:extLst>
          </p:cNvPr>
          <p:cNvSpPr>
            <a:spLocks noGrp="1"/>
          </p:cNvSpPr>
          <p:nvPr>
            <p:ph idx="1"/>
          </p:nvPr>
        </p:nvSpPr>
        <p:spPr>
          <a:xfrm>
            <a:off x="176980" y="178467"/>
            <a:ext cx="10353675" cy="991572"/>
          </a:xfrm>
        </p:spPr>
        <p:txBody>
          <a:bodyPr>
            <a:normAutofit fontScale="92500" lnSpcReduction="10000"/>
          </a:bodyPr>
          <a:lstStyle/>
          <a:p>
            <a:pPr marL="36900" indent="0">
              <a:buNone/>
            </a:pPr>
            <a:r>
              <a:rPr lang="tr-TR" b="1" i="1" dirty="0"/>
              <a:t>1)Gerekli kütüphaneleri içe aktardık, veri seti yüklendi, sayısal değerlere dönüştürdükten sonra eksik verileri siliyoruz. Tarih sütununu sadece yıla dönüştürüyoruz çünkü bazı verilerde gün ve ay bilgileri de mevcut.</a:t>
            </a:r>
          </a:p>
          <a:p>
            <a:pPr marL="36900" indent="0">
              <a:buNone/>
            </a:pPr>
            <a:endParaRPr lang="tr-TR" dirty="0"/>
          </a:p>
        </p:txBody>
      </p:sp>
      <p:pic>
        <p:nvPicPr>
          <p:cNvPr id="6" name="Resim 5">
            <a:extLst>
              <a:ext uri="{FF2B5EF4-FFF2-40B4-BE49-F238E27FC236}">
                <a16:creationId xmlns:a16="http://schemas.microsoft.com/office/drawing/2014/main" id="{5C441DB9-128B-17C4-6060-B79D687495E6}"/>
              </a:ext>
            </a:extLst>
          </p:cNvPr>
          <p:cNvPicPr>
            <a:picLocks noChangeAspect="1"/>
          </p:cNvPicPr>
          <p:nvPr/>
        </p:nvPicPr>
        <p:blipFill>
          <a:blip r:embed="rId2"/>
          <a:stretch>
            <a:fillRect/>
          </a:stretch>
        </p:blipFill>
        <p:spPr>
          <a:xfrm>
            <a:off x="176980" y="1170039"/>
            <a:ext cx="8135485" cy="2048161"/>
          </a:xfrm>
          <a:prstGeom prst="rect">
            <a:avLst/>
          </a:prstGeom>
        </p:spPr>
      </p:pic>
      <p:sp>
        <p:nvSpPr>
          <p:cNvPr id="7" name="Metin kutusu 6">
            <a:extLst>
              <a:ext uri="{FF2B5EF4-FFF2-40B4-BE49-F238E27FC236}">
                <a16:creationId xmlns:a16="http://schemas.microsoft.com/office/drawing/2014/main" id="{705B8716-3BA0-3888-156F-E2DC0C8346B5}"/>
              </a:ext>
            </a:extLst>
          </p:cNvPr>
          <p:cNvSpPr txBox="1"/>
          <p:nvPr/>
        </p:nvSpPr>
        <p:spPr>
          <a:xfrm>
            <a:off x="223328" y="3270469"/>
            <a:ext cx="9547123" cy="646331"/>
          </a:xfrm>
          <a:prstGeom prst="rect">
            <a:avLst/>
          </a:prstGeom>
          <a:noFill/>
        </p:spPr>
        <p:txBody>
          <a:bodyPr wrap="square" rtlCol="0">
            <a:spAutoFit/>
          </a:bodyPr>
          <a:lstStyle/>
          <a:p>
            <a:r>
              <a:rPr lang="tr-TR" b="1" i="1" dirty="0"/>
              <a:t>2)En çok okunan 10 kitabı , yayıncılara göre toplam okuyan sayısını, 2020 ve sonrası kitapları belirliyoruz .</a:t>
            </a:r>
          </a:p>
        </p:txBody>
      </p:sp>
      <p:pic>
        <p:nvPicPr>
          <p:cNvPr id="9" name="Resim 8">
            <a:extLst>
              <a:ext uri="{FF2B5EF4-FFF2-40B4-BE49-F238E27FC236}">
                <a16:creationId xmlns:a16="http://schemas.microsoft.com/office/drawing/2014/main" id="{21AAFA6C-00F7-B63F-3481-6C3848B83F37}"/>
              </a:ext>
            </a:extLst>
          </p:cNvPr>
          <p:cNvPicPr>
            <a:picLocks noChangeAspect="1"/>
          </p:cNvPicPr>
          <p:nvPr/>
        </p:nvPicPr>
        <p:blipFill>
          <a:blip r:embed="rId3"/>
          <a:stretch>
            <a:fillRect/>
          </a:stretch>
        </p:blipFill>
        <p:spPr>
          <a:xfrm>
            <a:off x="223328" y="3969069"/>
            <a:ext cx="10793331" cy="2588230"/>
          </a:xfrm>
          <a:prstGeom prst="rect">
            <a:avLst/>
          </a:prstGeom>
        </p:spPr>
      </p:pic>
    </p:spTree>
    <p:extLst>
      <p:ext uri="{BB962C8B-B14F-4D97-AF65-F5344CB8AC3E}">
        <p14:creationId xmlns:p14="http://schemas.microsoft.com/office/powerpoint/2010/main" val="2853937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66D9BCA-F1E7-896D-041B-8DCD341D68D8}"/>
              </a:ext>
            </a:extLst>
          </p:cNvPr>
          <p:cNvSpPr>
            <a:spLocks noGrp="1"/>
          </p:cNvSpPr>
          <p:nvPr>
            <p:ph idx="1"/>
          </p:nvPr>
        </p:nvSpPr>
        <p:spPr>
          <a:xfrm>
            <a:off x="441846" y="454256"/>
            <a:ext cx="10353762" cy="774776"/>
          </a:xfrm>
        </p:spPr>
        <p:txBody>
          <a:bodyPr/>
          <a:lstStyle/>
          <a:p>
            <a:pPr marL="36900" indent="0">
              <a:buNone/>
            </a:pPr>
            <a:r>
              <a:rPr lang="tr-TR" b="1" i="1" dirty="0"/>
              <a:t>3)Dillere göre kitap dağılımı, okuyanlar ve okumak isteyenler arasındaki ilişki, kitapların sayfa sayısı dağılımını belirliyoruz.</a:t>
            </a:r>
          </a:p>
        </p:txBody>
      </p:sp>
      <p:pic>
        <p:nvPicPr>
          <p:cNvPr id="5" name="Resim 4">
            <a:extLst>
              <a:ext uri="{FF2B5EF4-FFF2-40B4-BE49-F238E27FC236}">
                <a16:creationId xmlns:a16="http://schemas.microsoft.com/office/drawing/2014/main" id="{29E42C91-150B-D624-B2D5-EB316AB83F6E}"/>
              </a:ext>
            </a:extLst>
          </p:cNvPr>
          <p:cNvPicPr>
            <a:picLocks noChangeAspect="1"/>
          </p:cNvPicPr>
          <p:nvPr/>
        </p:nvPicPr>
        <p:blipFill>
          <a:blip r:embed="rId2"/>
          <a:stretch>
            <a:fillRect/>
          </a:stretch>
        </p:blipFill>
        <p:spPr>
          <a:xfrm>
            <a:off x="484992" y="1406013"/>
            <a:ext cx="11222016" cy="4833254"/>
          </a:xfrm>
          <a:prstGeom prst="rect">
            <a:avLst/>
          </a:prstGeom>
        </p:spPr>
      </p:pic>
    </p:spTree>
    <p:extLst>
      <p:ext uri="{BB962C8B-B14F-4D97-AF65-F5344CB8AC3E}">
        <p14:creationId xmlns:p14="http://schemas.microsoft.com/office/powerpoint/2010/main" val="8595364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93AD874-C90D-3BCE-8FA9-83927266BCF7}"/>
              </a:ext>
            </a:extLst>
          </p:cNvPr>
          <p:cNvSpPr>
            <a:spLocks noGrp="1"/>
          </p:cNvSpPr>
          <p:nvPr>
            <p:ph type="title"/>
          </p:nvPr>
        </p:nvSpPr>
        <p:spPr>
          <a:xfrm>
            <a:off x="835137" y="232530"/>
            <a:ext cx="10353762" cy="970450"/>
          </a:xfrm>
        </p:spPr>
        <p:txBody>
          <a:bodyPr>
            <a:normAutofit fontScale="90000"/>
          </a:bodyPr>
          <a:lstStyle/>
          <a:p>
            <a:r>
              <a:rPr lang="tr-TR" b="1" dirty="0">
                <a:solidFill>
                  <a:srgbClr val="00B050"/>
                </a:solidFill>
              </a:rPr>
              <a:t>Peki Kodu Çalıştırdığımızda Terminal Nasıl ?</a:t>
            </a:r>
            <a:endParaRPr lang="tr-TR" dirty="0"/>
          </a:p>
        </p:txBody>
      </p:sp>
      <p:pic>
        <p:nvPicPr>
          <p:cNvPr id="5" name="Resim 4">
            <a:extLst>
              <a:ext uri="{FF2B5EF4-FFF2-40B4-BE49-F238E27FC236}">
                <a16:creationId xmlns:a16="http://schemas.microsoft.com/office/drawing/2014/main" id="{3E67D95B-A5D5-B130-112F-8EB802E8929C}"/>
              </a:ext>
            </a:extLst>
          </p:cNvPr>
          <p:cNvPicPr>
            <a:picLocks noChangeAspect="1"/>
          </p:cNvPicPr>
          <p:nvPr/>
        </p:nvPicPr>
        <p:blipFill>
          <a:blip r:embed="rId2"/>
          <a:stretch>
            <a:fillRect/>
          </a:stretch>
        </p:blipFill>
        <p:spPr>
          <a:xfrm>
            <a:off x="919119" y="1575873"/>
            <a:ext cx="10353762" cy="4436553"/>
          </a:xfrm>
          <a:prstGeom prst="rect">
            <a:avLst/>
          </a:prstGeom>
        </p:spPr>
      </p:pic>
    </p:spTree>
    <p:extLst>
      <p:ext uri="{BB962C8B-B14F-4D97-AF65-F5344CB8AC3E}">
        <p14:creationId xmlns:p14="http://schemas.microsoft.com/office/powerpoint/2010/main" val="37347487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86755D29-4605-8CC9-C6ED-11386960A6F8}"/>
              </a:ext>
            </a:extLst>
          </p:cNvPr>
          <p:cNvPicPr>
            <a:picLocks noChangeAspect="1"/>
          </p:cNvPicPr>
          <p:nvPr/>
        </p:nvPicPr>
        <p:blipFill>
          <a:blip r:embed="rId2"/>
          <a:stretch>
            <a:fillRect/>
          </a:stretch>
        </p:blipFill>
        <p:spPr>
          <a:xfrm>
            <a:off x="1580520" y="1493056"/>
            <a:ext cx="9030960" cy="3560724"/>
          </a:xfrm>
          <a:prstGeom prst="rect">
            <a:avLst/>
          </a:prstGeom>
        </p:spPr>
      </p:pic>
    </p:spTree>
    <p:extLst>
      <p:ext uri="{BB962C8B-B14F-4D97-AF65-F5344CB8AC3E}">
        <p14:creationId xmlns:p14="http://schemas.microsoft.com/office/powerpoint/2010/main" val="889598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Resim 8">
            <a:extLst>
              <a:ext uri="{FF2B5EF4-FFF2-40B4-BE49-F238E27FC236}">
                <a16:creationId xmlns:a16="http://schemas.microsoft.com/office/drawing/2014/main" id="{9F9CF6EB-02B0-FA88-7CF6-0A975C05077E}"/>
              </a:ext>
            </a:extLst>
          </p:cNvPr>
          <p:cNvPicPr>
            <a:picLocks noChangeAspect="1"/>
          </p:cNvPicPr>
          <p:nvPr/>
        </p:nvPicPr>
        <p:blipFill>
          <a:blip r:embed="rId2"/>
          <a:stretch>
            <a:fillRect/>
          </a:stretch>
        </p:blipFill>
        <p:spPr>
          <a:xfrm>
            <a:off x="549183" y="207530"/>
            <a:ext cx="10892666" cy="6442939"/>
          </a:xfrm>
          <a:prstGeom prst="rect">
            <a:avLst/>
          </a:prstGeom>
        </p:spPr>
      </p:pic>
    </p:spTree>
    <p:extLst>
      <p:ext uri="{BB962C8B-B14F-4D97-AF65-F5344CB8AC3E}">
        <p14:creationId xmlns:p14="http://schemas.microsoft.com/office/powerpoint/2010/main" val="32432912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DE016F7C-036E-0237-BF70-404853184A6C}"/>
              </a:ext>
            </a:extLst>
          </p:cNvPr>
          <p:cNvPicPr>
            <a:picLocks noChangeAspect="1"/>
          </p:cNvPicPr>
          <p:nvPr/>
        </p:nvPicPr>
        <p:blipFill>
          <a:blip r:embed="rId2"/>
          <a:stretch>
            <a:fillRect/>
          </a:stretch>
        </p:blipFill>
        <p:spPr>
          <a:xfrm>
            <a:off x="773723" y="447400"/>
            <a:ext cx="10319658" cy="5963199"/>
          </a:xfrm>
          <a:prstGeom prst="rect">
            <a:avLst/>
          </a:prstGeom>
        </p:spPr>
      </p:pic>
    </p:spTree>
    <p:extLst>
      <p:ext uri="{BB962C8B-B14F-4D97-AF65-F5344CB8AC3E}">
        <p14:creationId xmlns:p14="http://schemas.microsoft.com/office/powerpoint/2010/main" val="8247286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70076A43-B206-0E5E-C69E-8801041083B0}"/>
              </a:ext>
            </a:extLst>
          </p:cNvPr>
          <p:cNvPicPr>
            <a:picLocks noChangeAspect="1"/>
          </p:cNvPicPr>
          <p:nvPr/>
        </p:nvPicPr>
        <p:blipFill>
          <a:blip r:embed="rId2"/>
          <a:stretch>
            <a:fillRect/>
          </a:stretch>
        </p:blipFill>
        <p:spPr>
          <a:xfrm>
            <a:off x="637413" y="221063"/>
            <a:ext cx="10917174" cy="6270171"/>
          </a:xfrm>
          <a:prstGeom prst="rect">
            <a:avLst/>
          </a:prstGeom>
        </p:spPr>
      </p:pic>
    </p:spTree>
    <p:extLst>
      <p:ext uri="{BB962C8B-B14F-4D97-AF65-F5344CB8AC3E}">
        <p14:creationId xmlns:p14="http://schemas.microsoft.com/office/powerpoint/2010/main" val="40356744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7110355-5D47-519E-C36F-CB26580A73B0}"/>
              </a:ext>
            </a:extLst>
          </p:cNvPr>
          <p:cNvSpPr>
            <a:spLocks noGrp="1"/>
          </p:cNvSpPr>
          <p:nvPr>
            <p:ph type="title"/>
          </p:nvPr>
        </p:nvSpPr>
        <p:spPr/>
        <p:txBody>
          <a:bodyPr/>
          <a:lstStyle/>
          <a:p>
            <a:r>
              <a:rPr lang="tr-TR" b="1" u="sng" dirty="0">
                <a:solidFill>
                  <a:schemeClr val="tx1"/>
                </a:solidFill>
              </a:rPr>
              <a:t>KAYNAKÇA</a:t>
            </a:r>
          </a:p>
        </p:txBody>
      </p:sp>
      <p:sp>
        <p:nvSpPr>
          <p:cNvPr id="3" name="İçerik Yer Tutucusu 2">
            <a:extLst>
              <a:ext uri="{FF2B5EF4-FFF2-40B4-BE49-F238E27FC236}">
                <a16:creationId xmlns:a16="http://schemas.microsoft.com/office/drawing/2014/main" id="{A8681CEE-51C9-C7B2-CAB8-6DAC50397B3E}"/>
              </a:ext>
            </a:extLst>
          </p:cNvPr>
          <p:cNvSpPr>
            <a:spLocks noGrp="1"/>
          </p:cNvSpPr>
          <p:nvPr>
            <p:ph idx="1"/>
          </p:nvPr>
        </p:nvSpPr>
        <p:spPr/>
        <p:txBody>
          <a:bodyPr>
            <a:normAutofit/>
          </a:bodyPr>
          <a:lstStyle/>
          <a:p>
            <a:pPr>
              <a:buFont typeface="Wingdings" panose="05000000000000000000" pitchFamily="2" charset="2"/>
              <a:buChar char="q"/>
            </a:pPr>
            <a:r>
              <a:rPr lang="tr-TR" sz="2400" dirty="0"/>
              <a:t>Vahit Keskin -</a:t>
            </a:r>
            <a:r>
              <a:rPr lang="tr-TR" sz="2400" b="0" i="0" dirty="0">
                <a:solidFill>
                  <a:schemeClr val="tx1"/>
                </a:solidFill>
                <a:effectLst/>
                <a:latin typeface="Udemy Sans"/>
              </a:rPr>
              <a:t>Python, Machine Learning (Makine Öğrenmesi), İstatistik, SQL, Büyük Veri, Doğal Dil İşleme (UDEMY)</a:t>
            </a:r>
          </a:p>
          <a:p>
            <a:pPr>
              <a:buFont typeface="Wingdings" panose="05000000000000000000" pitchFamily="2" charset="2"/>
              <a:buChar char="q"/>
            </a:pPr>
            <a:r>
              <a:rPr lang="tr-TR" sz="2400" b="0" i="0" dirty="0">
                <a:solidFill>
                  <a:schemeClr val="tx1"/>
                </a:solidFill>
                <a:effectLst/>
                <a:latin typeface="Udemy Sans"/>
              </a:rPr>
              <a:t>Mustafa Murat Coşkun- Python ve Programlama Öğrenin. Django , Web Geliştirme , Veri Analizi (Pandas , Numpy), Selenium</a:t>
            </a:r>
            <a:r>
              <a:rPr lang="tr-TR" sz="2400" dirty="0">
                <a:solidFill>
                  <a:schemeClr val="tx1"/>
                </a:solidFill>
                <a:effectLst/>
                <a:latin typeface="Udemy Sans"/>
              </a:rPr>
              <a:t> (UDEMY)</a:t>
            </a:r>
          </a:p>
          <a:p>
            <a:pPr>
              <a:buFont typeface="Wingdings" panose="05000000000000000000" pitchFamily="2" charset="2"/>
              <a:buChar char="q"/>
            </a:pPr>
            <a:r>
              <a:rPr lang="tr-TR" sz="2400" dirty="0">
                <a:solidFill>
                  <a:schemeClr val="tx1"/>
                </a:solidFill>
                <a:effectLst/>
                <a:latin typeface="Udemy Sans"/>
              </a:rPr>
              <a:t>Tuncay Erol-</a:t>
            </a:r>
            <a:r>
              <a:rPr lang="tr-TR" sz="2400" b="0" i="0" dirty="0">
                <a:solidFill>
                  <a:schemeClr val="tx1"/>
                </a:solidFill>
                <a:effectLst/>
                <a:latin typeface="Udemy Sans"/>
              </a:rPr>
              <a:t>Sıfırdan anlayarak Python Öğrenen (UDEMY)</a:t>
            </a:r>
          </a:p>
          <a:p>
            <a:pPr>
              <a:buFont typeface="Wingdings" panose="05000000000000000000" pitchFamily="2" charset="2"/>
              <a:buChar char="q"/>
            </a:pPr>
            <a:r>
              <a:rPr lang="tr-TR" sz="2400" dirty="0">
                <a:solidFill>
                  <a:schemeClr val="tx1"/>
                </a:solidFill>
                <a:effectLst/>
                <a:latin typeface="Udemy Sans"/>
              </a:rPr>
              <a:t>Güney Bircan-Youtube</a:t>
            </a:r>
          </a:p>
          <a:p>
            <a:pPr>
              <a:buFont typeface="Wingdings" panose="05000000000000000000" pitchFamily="2" charset="2"/>
              <a:buChar char="q"/>
            </a:pPr>
            <a:r>
              <a:rPr lang="tr-TR" sz="2400" dirty="0">
                <a:solidFill>
                  <a:schemeClr val="tx1"/>
                </a:solidFill>
                <a:effectLst/>
                <a:latin typeface="Udemy Sans"/>
              </a:rPr>
              <a:t>Python Günlükleri-Youtube</a:t>
            </a:r>
          </a:p>
          <a:p>
            <a:pPr>
              <a:buFont typeface="Wingdings" panose="05000000000000000000" pitchFamily="2" charset="2"/>
              <a:buChar char="q"/>
            </a:pPr>
            <a:r>
              <a:rPr lang="tr-TR" sz="2400">
                <a:solidFill>
                  <a:schemeClr val="tx1"/>
                </a:solidFill>
                <a:effectLst/>
                <a:latin typeface="Udemy Sans"/>
              </a:rPr>
              <a:t>ChatGPT</a:t>
            </a:r>
            <a:endParaRPr lang="tr-TR" sz="2400" dirty="0">
              <a:solidFill>
                <a:schemeClr val="tx1"/>
              </a:solidFill>
            </a:endParaRPr>
          </a:p>
        </p:txBody>
      </p:sp>
    </p:spTree>
    <p:extLst>
      <p:ext uri="{BB962C8B-B14F-4D97-AF65-F5344CB8AC3E}">
        <p14:creationId xmlns:p14="http://schemas.microsoft.com/office/powerpoint/2010/main" val="28069848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Kurşun Rengi">
  <a:themeElements>
    <a:clrScheme name="Kurşun Rengi">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Kurşun Rengi">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urşun Rengi">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Belge" ma:contentTypeID="0x010100AF88A909576B9140A819B6653A7178A5" ma:contentTypeVersion="4" ma:contentTypeDescription="Yeni belge oluşturun." ma:contentTypeScope="" ma:versionID="c180a877c3c41216844439a64a046c40">
  <xsd:schema xmlns:xsd="http://www.w3.org/2001/XMLSchema" xmlns:xs="http://www.w3.org/2001/XMLSchema" xmlns:p="http://schemas.microsoft.com/office/2006/metadata/properties" xmlns:ns3="0ebba876-7482-4cd6-b0b9-7bf584cfa8ae" targetNamespace="http://schemas.microsoft.com/office/2006/metadata/properties" ma:root="true" ma:fieldsID="45bdf429d0dd4ab2cabbe9fc6a0558d8" ns3:_="">
    <xsd:import namespace="0ebba876-7482-4cd6-b0b9-7bf584cfa8ae"/>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bba876-7482-4cd6-b0b9-7bf584cfa8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0062376-10C1-404D-B220-9EAD850AEA58}">
  <ds:schemaRefs>
    <ds:schemaRef ds:uri="http://schemas.microsoft.com/sharepoint/v3/contenttype/forms"/>
  </ds:schemaRefs>
</ds:datastoreItem>
</file>

<file path=customXml/itemProps2.xml><?xml version="1.0" encoding="utf-8"?>
<ds:datastoreItem xmlns:ds="http://schemas.openxmlformats.org/officeDocument/2006/customXml" ds:itemID="{FF4FFEDD-AC02-43CB-BDB2-4AA9A736BCEC}">
  <ds:schemaRefs>
    <ds:schemaRef ds:uri="http://schemas.microsoft.com/office/2006/documentManagement/types"/>
    <ds:schemaRef ds:uri="http://schemas.microsoft.com/office/2006/metadata/properties"/>
    <ds:schemaRef ds:uri="http://schemas.microsoft.com/office/infopath/2007/PartnerControls"/>
    <ds:schemaRef ds:uri="http://purl.org/dc/dcmitype/"/>
    <ds:schemaRef ds:uri="http://www.w3.org/XML/1998/namespace"/>
    <ds:schemaRef ds:uri="http://schemas.openxmlformats.org/package/2006/metadata/core-properties"/>
    <ds:schemaRef ds:uri="http://purl.org/dc/terms/"/>
    <ds:schemaRef ds:uri="0ebba876-7482-4cd6-b0b9-7bf584cfa8ae"/>
    <ds:schemaRef ds:uri="http://purl.org/dc/elements/1.1/"/>
  </ds:schemaRefs>
</ds:datastoreItem>
</file>

<file path=customXml/itemProps3.xml><?xml version="1.0" encoding="utf-8"?>
<ds:datastoreItem xmlns:ds="http://schemas.openxmlformats.org/officeDocument/2006/customXml" ds:itemID="{A0270F20-B728-497F-802F-78C367C071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bba876-7482-4cd6-b0b9-7bf584cfa8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TM04033929[[fn=Kurşun Rengi]]</Template>
  <TotalTime>307</TotalTime>
  <Words>955</Words>
  <Application>Microsoft Office PowerPoint</Application>
  <PresentationFormat>Geniş ekran</PresentationFormat>
  <Paragraphs>114</Paragraphs>
  <Slides>42</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42</vt:i4>
      </vt:variant>
    </vt:vector>
  </HeadingPairs>
  <TitlesOfParts>
    <vt:vector size="48" baseType="lpstr">
      <vt:lpstr>Arial</vt:lpstr>
      <vt:lpstr>Calisto MT</vt:lpstr>
      <vt:lpstr>Udemy Sans</vt:lpstr>
      <vt:lpstr>Wingdings</vt:lpstr>
      <vt:lpstr>Wingdings 2</vt:lpstr>
      <vt:lpstr>Kurşun Rengi</vt:lpstr>
      <vt:lpstr>SELENİUM İLE VERİ ÇEKME</vt:lpstr>
      <vt:lpstr>OpenLibrary İle Kitap Verileri </vt:lpstr>
      <vt:lpstr>Selenium Kurulumu</vt:lpstr>
      <vt:lpstr>Selenium İle İstenilen Verilerin Çekilmesi</vt:lpstr>
      <vt:lpstr>PowerPoint Sunusu</vt:lpstr>
      <vt:lpstr>PowerPoint Sunusu</vt:lpstr>
      <vt:lpstr>PowerPoint Sunusu</vt:lpstr>
      <vt:lpstr>PowerPoint Sunusu</vt:lpstr>
      <vt:lpstr>PowerPoint Sunusu</vt:lpstr>
      <vt:lpstr>Peki CSV Dosyası Nasıl Görünüyor ?</vt:lpstr>
      <vt:lpstr>Çekilen Verilere Göre Grafik Oluşturma</vt:lpstr>
      <vt:lpstr>Tanımlayıcı İstatistikler</vt:lpstr>
      <vt:lpstr>PowerPoint Sunusu</vt:lpstr>
      <vt:lpstr>PowerPoint Sunusu</vt:lpstr>
      <vt:lpstr>PowerPoint Sunusu</vt:lpstr>
      <vt:lpstr>Peki Kodu Çalıştırdığımızda Terminali Ve CSV Dosyası Nasıl ?</vt:lpstr>
      <vt:lpstr>PowerPoint Sunusu</vt:lpstr>
      <vt:lpstr>Görselleştirme</vt:lpstr>
      <vt:lpstr>PowerPoint Sunusu</vt:lpstr>
      <vt:lpstr>PowerPoint Sunusu</vt:lpstr>
      <vt:lpstr>Peki Kodu Çalıştırdığımızda Grafikler Nasıl ? </vt:lpstr>
      <vt:lpstr>PowerPoint Sunusu</vt:lpstr>
      <vt:lpstr>PowerPoint Sunusu</vt:lpstr>
      <vt:lpstr>PowerPoint Sunusu</vt:lpstr>
      <vt:lpstr>PowerPoint Sunusu</vt:lpstr>
      <vt:lpstr>PowerPoint Sunusu</vt:lpstr>
      <vt:lpstr>PowerPoint Sunusu</vt:lpstr>
      <vt:lpstr>PowerPoint Sunusu</vt:lpstr>
      <vt:lpstr>PowerPoint Sunusu</vt:lpstr>
      <vt:lpstr>Hipotez Testleri</vt:lpstr>
      <vt:lpstr>PowerPoint Sunusu</vt:lpstr>
      <vt:lpstr>PowerPoint Sunusu</vt:lpstr>
      <vt:lpstr>Peki Kodu Çalıştırdığımızda Terminal Nasıl ?</vt:lpstr>
      <vt:lpstr>Korelasyon Analizi</vt:lpstr>
      <vt:lpstr>PowerPoint Sunusu</vt:lpstr>
      <vt:lpstr>PowerPoint Sunusu</vt:lpstr>
      <vt:lpstr>Peki Kodu Çalıştırdığımızda Terminal Nasıl ?</vt:lpstr>
      <vt:lpstr>PowerPoint Sunusu</vt:lpstr>
      <vt:lpstr>PowerPoint Sunusu</vt:lpstr>
      <vt:lpstr>PowerPoint Sunusu</vt:lpstr>
      <vt:lpstr>PowerPoint Sunusu</vt:lpstr>
      <vt:lpstr>KAYNAKÇA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Ayse Yenibagci</dc:creator>
  <cp:lastModifiedBy>Ayse Yenibagci</cp:lastModifiedBy>
  <cp:revision>2</cp:revision>
  <dcterms:created xsi:type="dcterms:W3CDTF">2024-12-01T16:47:14Z</dcterms:created>
  <dcterms:modified xsi:type="dcterms:W3CDTF">2024-12-01T23:08:27Z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0x010100AF88A909576B9140A819B6653A7178A5</vt:lpwstr>
  </property>
</Properties>
</file>